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46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BD29-8B16-55E0-CDD2-17B76B3AF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6D579-08EA-B30B-4193-5CC52A2CF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6F42F-5D67-6F33-55C9-01CCA4C1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2A00F-E023-4AF9-94F1-365B899AAC2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DDA88-4E0A-91F0-5A8A-55F4F92F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BA3CE-1439-E0BE-2E81-02BB2DD36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02BA-D100-490B-A253-569DFDE6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2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E2B4-E70A-12FD-6598-0D5E08243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285AA-CFF4-CBD0-6016-FBC4C1D21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6DEEC-8BB2-83FB-3A70-061126605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2A00F-E023-4AF9-94F1-365B899AAC2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C5620-B03F-6AEF-CAD2-763CFF54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1301A-1779-52DB-0854-73DB861D6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02BA-D100-490B-A253-569DFDE6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18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A6E7-9135-A055-680A-ADBB88FD2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1B142-7E83-99A6-DE20-93EA5BE28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396D0-6747-B8C8-B7D4-AC596033F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2A00F-E023-4AF9-94F1-365B899AAC2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BD0BC-1AE0-FD9E-962B-576B6C55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30C95-69D3-5765-7764-C94C5866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02BA-D100-490B-A253-569DFDE6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0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08B4-86BA-EFDE-9920-A2F6692E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31A59-07C6-3B57-F8D1-C61E723D6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DB9CE-A210-F2F5-088C-4977B9699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ED160-2EF3-4CE9-375F-85992785F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2A00F-E023-4AF9-94F1-365B899AAC2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FB5DC-2B48-01E4-3ECE-60A7E063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BF27E-4F60-34F1-0E6A-A794EC4A1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02BA-D100-490B-A253-569DFDE6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36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F54A8-CF68-3DAA-881D-F1865E46C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876EA-EE8F-1999-9C96-CBCD431C8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EF74A-16FE-5D81-B6F9-9826528ED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A9CCC7-00D4-3147-8942-8ECFEAEA0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0621D0-A808-D938-A673-219C8DCF7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B3CDF9-02AE-2648-73E8-A9BA37E3D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2A00F-E023-4AF9-94F1-365B899AAC2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B8CD9B-D7E9-C2FE-4583-E5569228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CF51A5-0D1E-80A6-DAC1-3CF7EFA9B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02BA-D100-490B-A253-569DFDE6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8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9DFC-EF48-7717-1187-D1AE6D1F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3D1646-D508-EC6D-BFA9-833DD3DD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2A00F-E023-4AF9-94F1-365B899AAC2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0686E-0F98-8094-6286-DDFB9473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D25EE-A006-1836-FAAB-94BAE17A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02BA-D100-490B-A253-569DFDE6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53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30522-2470-837B-A151-7BDF32ED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2A00F-E023-4AF9-94F1-365B899AAC2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A65F0-8BE0-FCFA-5A67-9B9F1B677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1508D-AB12-B928-9C83-D151DDCE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02BA-D100-490B-A253-569DFDE6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8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4F45-7834-ECBD-7651-55ECB051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619A-9261-9AD2-EF84-9F26A3047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468CB-399F-745C-1F7F-0CC3E7381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472D8-1E75-D6B6-E1B5-2CFF369EC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2A00F-E023-4AF9-94F1-365B899AAC2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35960-086D-6883-4D40-C25FE888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9B5E-540F-A3FB-1D51-89FB7343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02BA-D100-490B-A253-569DFDE6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4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133FE-6F18-02A0-F1D1-CFE48936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9DC816-9756-D315-109C-9FA2304DA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090FF-F426-FE6A-850D-3D3E12FC3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6CFAD-4E53-5C55-9622-B2F5D0D3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2A00F-E023-4AF9-94F1-365B899AAC2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D1B58-4025-3497-29B2-3CE6DC4B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0BECC-410C-FAEE-E08A-7D7FE1B56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02BA-D100-490B-A253-569DFDE6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45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E412-1BD2-0D68-9CF7-BCDE6C48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51C39-D464-1E0D-2A94-BE53A8388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C285B-7E84-01D6-976F-F60A24A89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2A00F-E023-4AF9-94F1-365B899AAC2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3D287-C1E8-51F1-C9AB-CBD81D0F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EDD9B-4270-789E-41DB-DED073901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02BA-D100-490B-A253-569DFDE6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1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A879FE-595B-DFA9-491D-EF9B7DF72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8AE18-BE34-A62B-7324-32025C972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E0EA5-8627-7291-6DEA-A1E9EAEB3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2A00F-E023-4AF9-94F1-365B899AAC2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47466-8E00-5D60-5D95-58D3F8001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EE6BF-43C1-7BF5-AF20-569E19FE0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02BA-D100-490B-A253-569DFDE6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7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5A266-FFA8-BA31-8D5B-9706144E9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2B77-8024-AC06-91ED-5AEF9A75E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6F67A-F6FB-B3C8-1ECC-66A18A839A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2A00F-E023-4AF9-94F1-365B899AAC2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85F36-7877-78B9-355E-173D5A2E32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71F8C-C298-9E06-6E21-9D384B487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302BA-D100-490B-A253-569DFDE6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9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28F04B-EAAE-D040-6788-6A863B741A6F}"/>
              </a:ext>
            </a:extLst>
          </p:cNvPr>
          <p:cNvSpPr/>
          <p:nvPr/>
        </p:nvSpPr>
        <p:spPr>
          <a:xfrm>
            <a:off x="8890000" y="0"/>
            <a:ext cx="3302000" cy="6858000"/>
          </a:xfrm>
          <a:prstGeom prst="rect">
            <a:avLst/>
          </a:prstGeom>
          <a:solidFill>
            <a:srgbClr val="275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E286AC6-73DB-F1B2-B9A0-622192487E3F}"/>
              </a:ext>
            </a:extLst>
          </p:cNvPr>
          <p:cNvSpPr/>
          <p:nvPr/>
        </p:nvSpPr>
        <p:spPr>
          <a:xfrm>
            <a:off x="9334500" y="1016000"/>
            <a:ext cx="1968500" cy="1968500"/>
          </a:xfrm>
          <a:prstGeom prst="roundRect">
            <a:avLst/>
          </a:prstGeom>
          <a:solidFill>
            <a:srgbClr val="D5ED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30AD6-9660-AE46-69E4-B596DD5F643C}"/>
              </a:ext>
            </a:extLst>
          </p:cNvPr>
          <p:cNvSpPr txBox="1"/>
          <p:nvPr/>
        </p:nvSpPr>
        <p:spPr>
          <a:xfrm>
            <a:off x="9728200" y="1511300"/>
            <a:ext cx="1270000" cy="661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4300" b="1">
                <a:solidFill>
                  <a:srgbClr val="183A2E"/>
                </a:solidFill>
                <a:latin typeface="Aptos" panose="020B0004020202020204" pitchFamily="34" charset="0"/>
              </a:rPr>
              <a:t>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789617-192D-0634-75C0-89D8CBCE2BF8}"/>
              </a:ext>
            </a:extLst>
          </p:cNvPr>
          <p:cNvSpPr txBox="1"/>
          <p:nvPr/>
        </p:nvSpPr>
        <p:spPr>
          <a:xfrm>
            <a:off x="685800" y="977900"/>
            <a:ext cx="723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D5ED97"/>
                </a:solidFill>
                <a:latin typeface="Aptos" panose="020B0004020202020204" pitchFamily="34" charset="0"/>
              </a:rPr>
              <a:t>RESTAURANT PLATFORM  /  KUMASI, GHANA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BF35F-7093-A641-902E-C057876CD821}"/>
              </a:ext>
            </a:extLst>
          </p:cNvPr>
          <p:cNvSpPr txBox="1"/>
          <p:nvPr/>
        </p:nvSpPr>
        <p:spPr>
          <a:xfrm>
            <a:off x="635000" y="1816100"/>
            <a:ext cx="8255000" cy="76944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5000" b="1">
                <a:solidFill>
                  <a:srgbClr val="FFFFFF"/>
                </a:solidFill>
                <a:latin typeface="Aptos" panose="020B0004020202020204" pitchFamily="34" charset="0"/>
              </a:rPr>
              <a:t>OrderPulse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5C012E-0406-3400-0C3A-089D7BFD9D03}"/>
              </a:ext>
            </a:extLst>
          </p:cNvPr>
          <p:cNvSpPr txBox="1"/>
          <p:nvPr/>
        </p:nvSpPr>
        <p:spPr>
          <a:xfrm>
            <a:off x="711200" y="3098800"/>
            <a:ext cx="7493000" cy="7386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400">
                <a:solidFill>
                  <a:srgbClr val="FFFFFF"/>
                </a:solidFill>
                <a:latin typeface="Aptos" panose="020B0004020202020204" pitchFamily="34" charset="0"/>
              </a:rPr>
              <a:t>Online ordering, reservations
and restaurant operations - in one app.</a:t>
            </a:r>
            <a:endParaRPr lang="en-US" sz="2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08281-E713-BEEC-FA77-67BB3B8687DB}"/>
              </a:ext>
            </a:extLst>
          </p:cNvPr>
          <p:cNvSpPr/>
          <p:nvPr/>
        </p:nvSpPr>
        <p:spPr>
          <a:xfrm>
            <a:off x="711200" y="4597400"/>
            <a:ext cx="1092200" cy="63500"/>
          </a:xfrm>
          <a:prstGeom prst="rect">
            <a:avLst/>
          </a:prstGeom>
          <a:solidFill>
            <a:srgbClr val="E7B1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0A4352-2621-FBDA-ED10-03DDA3E8EC19}"/>
              </a:ext>
            </a:extLst>
          </p:cNvPr>
          <p:cNvSpPr txBox="1"/>
          <p:nvPr/>
        </p:nvSpPr>
        <p:spPr>
          <a:xfrm>
            <a:off x="711200" y="4940300"/>
            <a:ext cx="6604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D5ED97"/>
                </a:solidFill>
                <a:latin typeface="Aptos" panose="020B0004020202020204" pitchFamily="34" charset="0"/>
              </a:rPr>
              <a:t>A practical product walkthrough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96C228-587F-7C75-D554-819256C64EF7}"/>
              </a:ext>
            </a:extLst>
          </p:cNvPr>
          <p:cNvSpPr txBox="1"/>
          <p:nvPr/>
        </p:nvSpPr>
        <p:spPr>
          <a:xfrm>
            <a:off x="711200" y="5676900"/>
            <a:ext cx="7366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FFFFFF"/>
                </a:solidFill>
                <a:latin typeface="Aptos" panose="020B0004020202020204" pitchFamily="34" charset="0"/>
              </a:rPr>
              <a:t>React + Express + MySQL  |  Paystack payments  |  Brevo email</a:t>
            </a:r>
            <a:endParaRPr lang="en-US" sz="13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22376C-9F3F-C27C-9E47-6D2E4BAD6EC8}"/>
              </a:ext>
            </a:extLst>
          </p:cNvPr>
          <p:cNvSpPr txBox="1"/>
          <p:nvPr/>
        </p:nvSpPr>
        <p:spPr>
          <a:xfrm>
            <a:off x="711200" y="6477000"/>
            <a:ext cx="1066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D5ED97"/>
                </a:solidFill>
                <a:latin typeface="Aptos" panose="020B0004020202020204" pitchFamily="34" charset="0"/>
              </a:rPr>
              <a:t>ORDERPULSE  /  APP OVERVIEW                                        01</a:t>
            </a:r>
          </a:p>
        </p:txBody>
      </p:sp>
    </p:spTree>
    <p:extLst>
      <p:ext uri="{BB962C8B-B14F-4D97-AF65-F5344CB8AC3E}">
        <p14:creationId xmlns:p14="http://schemas.microsoft.com/office/powerpoint/2010/main" val="873448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766E3-1F25-6543-E928-878DE9F95F9D}"/>
              </a:ext>
            </a:extLst>
          </p:cNvPr>
          <p:cNvSpPr txBox="1"/>
          <p:nvPr/>
        </p:nvSpPr>
        <p:spPr>
          <a:xfrm>
            <a:off x="5588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275240"/>
                </a:solidFill>
                <a:latin typeface="Aptos" panose="020B0004020202020204" pitchFamily="34" charset="0"/>
              </a:rPr>
              <a:t>PRODUCT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9820D-0DB2-D7B7-8A69-DC11DF52A92D}"/>
              </a:ext>
            </a:extLst>
          </p:cNvPr>
          <p:cNvSpPr txBox="1"/>
          <p:nvPr/>
        </p:nvSpPr>
        <p:spPr>
          <a:xfrm>
            <a:off x="558800" y="736600"/>
            <a:ext cx="110744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900" b="1">
                <a:solidFill>
                  <a:srgbClr val="183A2E"/>
                </a:solidFill>
                <a:latin typeface="Aptos" panose="020B0004020202020204" pitchFamily="34" charset="0"/>
              </a:rPr>
              <a:t>How OrderPulse works: one connected service flow</a:t>
            </a:r>
            <a:endParaRPr lang="en-US" sz="2900" b="1">
              <a:solidFill>
                <a:srgbClr val="183A2E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70866-E1C5-C62E-7DC5-53C8B19AB5DA}"/>
              </a:ext>
            </a:extLst>
          </p:cNvPr>
          <p:cNvSpPr/>
          <p:nvPr/>
        </p:nvSpPr>
        <p:spPr>
          <a:xfrm>
            <a:off x="558800" y="1574800"/>
            <a:ext cx="11074400" cy="25400"/>
          </a:xfrm>
          <a:prstGeom prst="rect">
            <a:avLst/>
          </a:prstGeom>
          <a:solidFill>
            <a:srgbClr val="E7E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23D65-79E0-998E-C894-21690EDB8287}"/>
              </a:ext>
            </a:extLst>
          </p:cNvPr>
          <p:cNvSpPr txBox="1"/>
          <p:nvPr/>
        </p:nvSpPr>
        <p:spPr>
          <a:xfrm>
            <a:off x="558800" y="6477000"/>
            <a:ext cx="11074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626F67"/>
                </a:solidFill>
                <a:latin typeface="Aptos" panose="020B0004020202020204" pitchFamily="34" charset="0"/>
              </a:rPr>
              <a:t>ORDERPULSE  /  APP OVERVIEW                                        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D6EA7-ACB6-6DB9-E9B3-85CEF112C6E1}"/>
              </a:ext>
            </a:extLst>
          </p:cNvPr>
          <p:cNvSpPr txBox="1"/>
          <p:nvPr/>
        </p:nvSpPr>
        <p:spPr>
          <a:xfrm>
            <a:off x="584200" y="17907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626F67"/>
                </a:solidFill>
                <a:latin typeface="Aptos" panose="020B0004020202020204" pitchFamily="34" charset="0"/>
              </a:rPr>
              <a:t>A guest request moves through the application to the restaurant team, with the service recording progress along the way.</a:t>
            </a:r>
            <a:endParaRPr lang="en-US" sz="1500">
              <a:solidFill>
                <a:srgbClr val="626F6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9429B1-82B5-E5E3-F0BC-44558859C0AE}"/>
              </a:ext>
            </a:extLst>
          </p:cNvPr>
          <p:cNvSpPr/>
          <p:nvPr/>
        </p:nvSpPr>
        <p:spPr>
          <a:xfrm>
            <a:off x="558800" y="2540000"/>
            <a:ext cx="3479800" cy="2832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829373-EF45-1A02-88F0-D0648525A396}"/>
              </a:ext>
            </a:extLst>
          </p:cNvPr>
          <p:cNvSpPr/>
          <p:nvPr/>
        </p:nvSpPr>
        <p:spPr>
          <a:xfrm>
            <a:off x="762000" y="2755900"/>
            <a:ext cx="63500" cy="2400300"/>
          </a:xfrm>
          <a:prstGeom prst="rect">
            <a:avLst/>
          </a:prstGeom>
          <a:solidFill>
            <a:srgbClr val="D5ED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79931A-FF59-59AF-6DBE-4BFB024DA514}"/>
              </a:ext>
            </a:extLst>
          </p:cNvPr>
          <p:cNvSpPr txBox="1"/>
          <p:nvPr/>
        </p:nvSpPr>
        <p:spPr>
          <a:xfrm>
            <a:off x="965200" y="2794000"/>
            <a:ext cx="2870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1  Guest interface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AF23F8-028F-8686-1509-2C8BB39F206B}"/>
              </a:ext>
            </a:extLst>
          </p:cNvPr>
          <p:cNvSpPr txBox="1"/>
          <p:nvPr/>
        </p:nvSpPr>
        <p:spPr>
          <a:xfrm>
            <a:off x="965200" y="3263900"/>
            <a:ext cx="2819400" cy="16004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React storefront works across screen sizes.
Guests browse, order or request a reservation.
They can verify email, pay online and track an order.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0DF48B-FB53-DD67-350D-E39C6B611D72}"/>
              </a:ext>
            </a:extLst>
          </p:cNvPr>
          <p:cNvSpPr/>
          <p:nvPr/>
        </p:nvSpPr>
        <p:spPr>
          <a:xfrm>
            <a:off x="4356100" y="2540000"/>
            <a:ext cx="3479800" cy="2832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1009B9-260F-FE58-89BA-150C385638E9}"/>
              </a:ext>
            </a:extLst>
          </p:cNvPr>
          <p:cNvSpPr/>
          <p:nvPr/>
        </p:nvSpPr>
        <p:spPr>
          <a:xfrm>
            <a:off x="4559300" y="2755900"/>
            <a:ext cx="63500" cy="2400300"/>
          </a:xfrm>
          <a:prstGeom prst="rect">
            <a:avLst/>
          </a:prstGeom>
          <a:solidFill>
            <a:srgbClr val="E7B1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669B77-227C-84C0-5ACC-47C1F2EB7017}"/>
              </a:ext>
            </a:extLst>
          </p:cNvPr>
          <p:cNvSpPr txBox="1"/>
          <p:nvPr/>
        </p:nvSpPr>
        <p:spPr>
          <a:xfrm>
            <a:off x="4762500" y="2794000"/>
            <a:ext cx="2870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2  Application service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7F2F53-8A12-FB05-A0C5-6AC69BFA0702}"/>
              </a:ext>
            </a:extLst>
          </p:cNvPr>
          <p:cNvSpPr txBox="1"/>
          <p:nvPr/>
        </p:nvSpPr>
        <p:spPr>
          <a:xfrm>
            <a:off x="4762500" y="3263900"/>
            <a:ext cx="2819400" cy="16004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Express API validates requests and business rules.
MySQL stores menu, orders, users and bookings.
Paystack handles checkout; Brevo sends configured email.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3D01DB5-AE85-D897-8064-91F26CCCFEC8}"/>
              </a:ext>
            </a:extLst>
          </p:cNvPr>
          <p:cNvSpPr/>
          <p:nvPr/>
        </p:nvSpPr>
        <p:spPr>
          <a:xfrm>
            <a:off x="8153400" y="2540000"/>
            <a:ext cx="3479800" cy="2832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41C604-95CD-1942-E72B-3B1625354CB3}"/>
              </a:ext>
            </a:extLst>
          </p:cNvPr>
          <p:cNvSpPr/>
          <p:nvPr/>
        </p:nvSpPr>
        <p:spPr>
          <a:xfrm>
            <a:off x="8356600" y="2755900"/>
            <a:ext cx="63500" cy="2400300"/>
          </a:xfrm>
          <a:prstGeom prst="rect">
            <a:avLst/>
          </a:prstGeom>
          <a:solidFill>
            <a:srgbClr val="275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0D6ADE-F366-5382-19F8-253064C19B01}"/>
              </a:ext>
            </a:extLst>
          </p:cNvPr>
          <p:cNvSpPr txBox="1"/>
          <p:nvPr/>
        </p:nvSpPr>
        <p:spPr>
          <a:xfrm>
            <a:off x="8559800" y="2794000"/>
            <a:ext cx="2870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3  Restaurant team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6F1102-5993-78FF-80DB-BFCD0E10BEFC}"/>
              </a:ext>
            </a:extLst>
          </p:cNvPr>
          <p:cNvSpPr txBox="1"/>
          <p:nvPr/>
        </p:nvSpPr>
        <p:spPr>
          <a:xfrm>
            <a:off x="8559800" y="3263900"/>
            <a:ext cx="2819400" cy="16004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Staff dashboard shows orders, kitchen, tables and reservations.
Team members update service status; managers administer menu and staff.
Changes are recorded in activity history.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09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51F204-A248-6879-7976-9A30F145CFAA}"/>
              </a:ext>
            </a:extLst>
          </p:cNvPr>
          <p:cNvSpPr txBox="1"/>
          <p:nvPr/>
        </p:nvSpPr>
        <p:spPr>
          <a:xfrm>
            <a:off x="5588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275240"/>
                </a:solidFill>
                <a:latin typeface="Aptos" panose="020B0004020202020204" pitchFamily="34" charset="0"/>
              </a:rPr>
              <a:t>PRODUCT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83762-2178-EB84-70EE-22D2D65FFBF0}"/>
              </a:ext>
            </a:extLst>
          </p:cNvPr>
          <p:cNvSpPr txBox="1"/>
          <p:nvPr/>
        </p:nvSpPr>
        <p:spPr>
          <a:xfrm>
            <a:off x="558800" y="736600"/>
            <a:ext cx="110744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900" b="1">
                <a:solidFill>
                  <a:srgbClr val="183A2E"/>
                </a:solidFill>
                <a:latin typeface="Aptos" panose="020B0004020202020204" pitchFamily="34" charset="0"/>
              </a:rPr>
              <a:t>A clear path from menu to paid order</a:t>
            </a:r>
            <a:endParaRPr lang="en-US" sz="2900" b="1">
              <a:solidFill>
                <a:srgbClr val="183A2E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A44A31-8BAF-DA12-4B9D-9CACDA9C3C91}"/>
              </a:ext>
            </a:extLst>
          </p:cNvPr>
          <p:cNvSpPr/>
          <p:nvPr/>
        </p:nvSpPr>
        <p:spPr>
          <a:xfrm>
            <a:off x="558800" y="1574800"/>
            <a:ext cx="11074400" cy="25400"/>
          </a:xfrm>
          <a:prstGeom prst="rect">
            <a:avLst/>
          </a:prstGeom>
          <a:solidFill>
            <a:srgbClr val="E7E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DC05B8-CAED-B46C-BCDA-1AB5BDCA9412}"/>
              </a:ext>
            </a:extLst>
          </p:cNvPr>
          <p:cNvSpPr txBox="1"/>
          <p:nvPr/>
        </p:nvSpPr>
        <p:spPr>
          <a:xfrm>
            <a:off x="558800" y="6477000"/>
            <a:ext cx="11074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626F67"/>
                </a:solidFill>
                <a:latin typeface="Aptos" panose="020B0004020202020204" pitchFamily="34" charset="0"/>
              </a:rPr>
              <a:t>ORDERPULSE  /  APP OVERVIEW                                        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9CDEF-84A7-F108-B14C-FDD2361B2026}"/>
              </a:ext>
            </a:extLst>
          </p:cNvPr>
          <p:cNvSpPr txBox="1"/>
          <p:nvPr/>
        </p:nvSpPr>
        <p:spPr>
          <a:xfrm>
            <a:off x="584200" y="18034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626F67"/>
                </a:solidFill>
                <a:latin typeface="Aptos" panose="020B0004020202020204" pitchFamily="34" charset="0"/>
              </a:rPr>
              <a:t>The backend calculates the order from current menu records, then confirms payment with Paystack before marking it paid.</a:t>
            </a:r>
            <a:endParaRPr lang="en-US" sz="1500">
              <a:solidFill>
                <a:srgbClr val="626F6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98B72C-116F-03DA-097C-98861B987ABA}"/>
              </a:ext>
            </a:extLst>
          </p:cNvPr>
          <p:cNvSpPr/>
          <p:nvPr/>
        </p:nvSpPr>
        <p:spPr>
          <a:xfrm>
            <a:off x="558800" y="2679700"/>
            <a:ext cx="2654300" cy="26543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E39EA7-62A9-5B78-7809-B1022AFECE53}"/>
              </a:ext>
            </a:extLst>
          </p:cNvPr>
          <p:cNvSpPr/>
          <p:nvPr/>
        </p:nvSpPr>
        <p:spPr>
          <a:xfrm>
            <a:off x="762000" y="2895600"/>
            <a:ext cx="63500" cy="2222500"/>
          </a:xfrm>
          <a:prstGeom prst="rect">
            <a:avLst/>
          </a:prstGeom>
          <a:solidFill>
            <a:srgbClr val="275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BDC727-22E2-338E-0A84-D499DB839D80}"/>
              </a:ext>
            </a:extLst>
          </p:cNvPr>
          <p:cNvSpPr txBox="1"/>
          <p:nvPr/>
        </p:nvSpPr>
        <p:spPr>
          <a:xfrm>
            <a:off x="965200" y="2933700"/>
            <a:ext cx="20447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01  BROWSE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9C2C6D-07E5-5770-1A1B-FE9ADBC3F081}"/>
              </a:ext>
            </a:extLst>
          </p:cNvPr>
          <p:cNvSpPr txBox="1"/>
          <p:nvPr/>
        </p:nvSpPr>
        <p:spPr>
          <a:xfrm>
            <a:off x="965200" y="3403600"/>
            <a:ext cx="19939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Explore categories, item details and GHâ‚µ prices.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78B999-4E9D-7D18-DFE7-8254CC861DD9}"/>
              </a:ext>
            </a:extLst>
          </p:cNvPr>
          <p:cNvSpPr/>
          <p:nvPr/>
        </p:nvSpPr>
        <p:spPr>
          <a:xfrm>
            <a:off x="3365500" y="2679700"/>
            <a:ext cx="2654300" cy="26543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ADF9CA-9E4C-AFEE-6C42-0430F0CA09D5}"/>
              </a:ext>
            </a:extLst>
          </p:cNvPr>
          <p:cNvSpPr/>
          <p:nvPr/>
        </p:nvSpPr>
        <p:spPr>
          <a:xfrm>
            <a:off x="3568700" y="2895600"/>
            <a:ext cx="63500" cy="2222500"/>
          </a:xfrm>
          <a:prstGeom prst="rect">
            <a:avLst/>
          </a:prstGeom>
          <a:solidFill>
            <a:srgbClr val="275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B24946-6491-BC93-0D15-DE54C68D5F09}"/>
              </a:ext>
            </a:extLst>
          </p:cNvPr>
          <p:cNvSpPr txBox="1"/>
          <p:nvPr/>
        </p:nvSpPr>
        <p:spPr>
          <a:xfrm>
            <a:off x="3771900" y="2933700"/>
            <a:ext cx="20447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02  BUILD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2E91E-E22A-63A4-0C71-B9A3F4CB6BE8}"/>
              </a:ext>
            </a:extLst>
          </p:cNvPr>
          <p:cNvSpPr txBox="1"/>
          <p:nvPr/>
        </p:nvSpPr>
        <p:spPr>
          <a:xfrm>
            <a:off x="3771900" y="3403600"/>
            <a:ext cx="19939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Add dishes to the bag and choose pickup or dine-in.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F9A3A92-5922-ACC2-DE57-57F7D87F1B98}"/>
              </a:ext>
            </a:extLst>
          </p:cNvPr>
          <p:cNvSpPr/>
          <p:nvPr/>
        </p:nvSpPr>
        <p:spPr>
          <a:xfrm>
            <a:off x="6172200" y="2679700"/>
            <a:ext cx="2654300" cy="26543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CEBAB0-1F10-72B4-7784-28B3158E20FB}"/>
              </a:ext>
            </a:extLst>
          </p:cNvPr>
          <p:cNvSpPr/>
          <p:nvPr/>
        </p:nvSpPr>
        <p:spPr>
          <a:xfrm>
            <a:off x="6375400" y="2895600"/>
            <a:ext cx="63500" cy="2222500"/>
          </a:xfrm>
          <a:prstGeom prst="rect">
            <a:avLst/>
          </a:prstGeom>
          <a:solidFill>
            <a:srgbClr val="E7B1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AB7316-A311-751B-9F06-70266D5BD14B}"/>
              </a:ext>
            </a:extLst>
          </p:cNvPr>
          <p:cNvSpPr txBox="1"/>
          <p:nvPr/>
        </p:nvSpPr>
        <p:spPr>
          <a:xfrm>
            <a:off x="6578600" y="2933700"/>
            <a:ext cx="20447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03  PAY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FDA14E-59E9-D54C-4FEF-E71301E843BE}"/>
              </a:ext>
            </a:extLst>
          </p:cNvPr>
          <p:cNvSpPr txBox="1"/>
          <p:nvPr/>
        </p:nvSpPr>
        <p:spPr>
          <a:xfrm>
            <a:off x="6578600" y="3403600"/>
            <a:ext cx="19939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Continue to secure Paystack checkout.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6EC0AA4-0366-121F-C538-D49E9A78E885}"/>
              </a:ext>
            </a:extLst>
          </p:cNvPr>
          <p:cNvSpPr/>
          <p:nvPr/>
        </p:nvSpPr>
        <p:spPr>
          <a:xfrm>
            <a:off x="8978900" y="2679700"/>
            <a:ext cx="2654300" cy="26543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A0FF3A-1AD5-ADA0-8545-339E699E7FF2}"/>
              </a:ext>
            </a:extLst>
          </p:cNvPr>
          <p:cNvSpPr/>
          <p:nvPr/>
        </p:nvSpPr>
        <p:spPr>
          <a:xfrm>
            <a:off x="9182100" y="2895600"/>
            <a:ext cx="63500" cy="2222500"/>
          </a:xfrm>
          <a:prstGeom prst="rect">
            <a:avLst/>
          </a:prstGeom>
          <a:solidFill>
            <a:srgbClr val="275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48AB75-B478-F341-84E4-8F59150D33F4}"/>
              </a:ext>
            </a:extLst>
          </p:cNvPr>
          <p:cNvSpPr txBox="1"/>
          <p:nvPr/>
        </p:nvSpPr>
        <p:spPr>
          <a:xfrm>
            <a:off x="9385300" y="2933700"/>
            <a:ext cx="20447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04  FOLLOW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AE6D43-483F-E0E6-B642-C05746A73DE7}"/>
              </a:ext>
            </a:extLst>
          </p:cNvPr>
          <p:cNvSpPr txBox="1"/>
          <p:nvPr/>
        </p:nvSpPr>
        <p:spPr>
          <a:xfrm>
            <a:off x="9385300" y="3403600"/>
            <a:ext cx="1993900" cy="6001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Use the order number and phone to track status; download or print a receipt.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9E8F407-BCE5-48AC-71CE-DE9DE47AF3A8}"/>
              </a:ext>
            </a:extLst>
          </p:cNvPr>
          <p:cNvSpPr/>
          <p:nvPr/>
        </p:nvSpPr>
        <p:spPr>
          <a:xfrm>
            <a:off x="558800" y="5626100"/>
            <a:ext cx="11074400" cy="495300"/>
          </a:xfrm>
          <a:prstGeom prst="roundRect">
            <a:avLst/>
          </a:prstGeom>
          <a:solidFill>
            <a:srgbClr val="E7E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BB17E8-13B4-DC9D-1C75-9B689610C1A4}"/>
              </a:ext>
            </a:extLst>
          </p:cNvPr>
          <p:cNvSpPr txBox="1"/>
          <p:nvPr/>
        </p:nvSpPr>
        <p:spPr>
          <a:xfrm>
            <a:off x="749300" y="5753100"/>
            <a:ext cx="1066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 b="1">
                <a:solidFill>
                  <a:srgbClr val="183A2E"/>
                </a:solidFill>
                <a:latin typeface="Aptos" panose="020B0004020202020204" pitchFamily="34" charset="0"/>
              </a:rPr>
              <a:t>Trust point: the server checks order totals and Paystack payment; stock is rechecked during order creation.</a:t>
            </a:r>
            <a:endParaRPr lang="en-US" sz="1200" b="1">
              <a:solidFill>
                <a:srgbClr val="183A2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18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EBC2AD-8563-E99D-138A-ACC24419CB1C}"/>
              </a:ext>
            </a:extLst>
          </p:cNvPr>
          <p:cNvSpPr txBox="1"/>
          <p:nvPr/>
        </p:nvSpPr>
        <p:spPr>
          <a:xfrm>
            <a:off x="5588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275240"/>
                </a:solidFill>
                <a:latin typeface="Aptos" panose="020B0004020202020204" pitchFamily="34" charset="0"/>
              </a:rPr>
              <a:t>PRODUCT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AD4B5-E4CB-48CC-1747-90CD4E7CD9FD}"/>
              </a:ext>
            </a:extLst>
          </p:cNvPr>
          <p:cNvSpPr txBox="1"/>
          <p:nvPr/>
        </p:nvSpPr>
        <p:spPr>
          <a:xfrm>
            <a:off x="558800" y="736600"/>
            <a:ext cx="110744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900" b="1">
                <a:solidFill>
                  <a:srgbClr val="183A2E"/>
                </a:solidFill>
                <a:latin typeface="Aptos" panose="020B0004020202020204" pitchFamily="34" charset="0"/>
              </a:rPr>
              <a:t>Accounts make reservations and recovery manageable</a:t>
            </a:r>
            <a:endParaRPr lang="en-US" sz="2900" b="1">
              <a:solidFill>
                <a:srgbClr val="183A2E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EA9E83-5F4B-7F58-B6FB-62A0F0C42CB0}"/>
              </a:ext>
            </a:extLst>
          </p:cNvPr>
          <p:cNvSpPr/>
          <p:nvPr/>
        </p:nvSpPr>
        <p:spPr>
          <a:xfrm>
            <a:off x="558800" y="1574800"/>
            <a:ext cx="11074400" cy="25400"/>
          </a:xfrm>
          <a:prstGeom prst="rect">
            <a:avLst/>
          </a:prstGeom>
          <a:solidFill>
            <a:srgbClr val="E7E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77F18-E203-DAF4-004C-F58E89984A78}"/>
              </a:ext>
            </a:extLst>
          </p:cNvPr>
          <p:cNvSpPr txBox="1"/>
          <p:nvPr/>
        </p:nvSpPr>
        <p:spPr>
          <a:xfrm>
            <a:off x="558800" y="6477000"/>
            <a:ext cx="11074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626F67"/>
                </a:solidFill>
                <a:latin typeface="Aptos" panose="020B0004020202020204" pitchFamily="34" charset="0"/>
              </a:rPr>
              <a:t>ORDERPULSE  /  APP OVERVIEW                                        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D401B8-41FB-FBF5-D0B5-197E7E48F896}"/>
              </a:ext>
            </a:extLst>
          </p:cNvPr>
          <p:cNvSpPr/>
          <p:nvPr/>
        </p:nvSpPr>
        <p:spPr>
          <a:xfrm>
            <a:off x="558800" y="2032000"/>
            <a:ext cx="5308600" cy="3657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6971DA-0A25-00BB-048D-0336230AEC54}"/>
              </a:ext>
            </a:extLst>
          </p:cNvPr>
          <p:cNvSpPr/>
          <p:nvPr/>
        </p:nvSpPr>
        <p:spPr>
          <a:xfrm>
            <a:off x="762000" y="2247900"/>
            <a:ext cx="63500" cy="3225800"/>
          </a:xfrm>
          <a:prstGeom prst="rect">
            <a:avLst/>
          </a:prstGeom>
          <a:solidFill>
            <a:srgbClr val="D5ED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BA1A5-1397-FEE1-411A-50280395B782}"/>
              </a:ext>
            </a:extLst>
          </p:cNvPr>
          <p:cNvSpPr txBox="1"/>
          <p:nvPr/>
        </p:nvSpPr>
        <p:spPr>
          <a:xfrm>
            <a:off x="965200" y="2286000"/>
            <a:ext cx="4699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Customer account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B979F4-40E1-8B69-F3E0-E4FE0AB734CA}"/>
              </a:ext>
            </a:extLst>
          </p:cNvPr>
          <p:cNvSpPr txBox="1"/>
          <p:nvPr/>
        </p:nvSpPr>
        <p:spPr>
          <a:xfrm>
            <a:off x="965200" y="2755900"/>
            <a:ext cx="4648200" cy="16004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Create an account and verify its email before signing in.
Reservations are linked to the signed-in customer.
Forgot-password flow sends a time-limited reset link.
Verification links expire after 30 seconds; reset links expire after one hour.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6951AA-5107-078A-B9F4-64E882E56BA4}"/>
              </a:ext>
            </a:extLst>
          </p:cNvPr>
          <p:cNvSpPr/>
          <p:nvPr/>
        </p:nvSpPr>
        <p:spPr>
          <a:xfrm>
            <a:off x="6324600" y="2032000"/>
            <a:ext cx="5308600" cy="3657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51BF76-6CCB-A921-88DF-C12A0846B7B1}"/>
              </a:ext>
            </a:extLst>
          </p:cNvPr>
          <p:cNvSpPr/>
          <p:nvPr/>
        </p:nvSpPr>
        <p:spPr>
          <a:xfrm>
            <a:off x="6527800" y="2247900"/>
            <a:ext cx="63500" cy="3225800"/>
          </a:xfrm>
          <a:prstGeom prst="rect">
            <a:avLst/>
          </a:prstGeom>
          <a:solidFill>
            <a:srgbClr val="E7B1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F3DC14-9C8D-A7AD-2220-DF86943159BF}"/>
              </a:ext>
            </a:extLst>
          </p:cNvPr>
          <p:cNvSpPr txBox="1"/>
          <p:nvPr/>
        </p:nvSpPr>
        <p:spPr>
          <a:xfrm>
            <a:off x="6731000" y="2286000"/>
            <a:ext cx="4699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Reservation flow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CEC530-2478-4B33-7A7B-97D703C6FDCA}"/>
              </a:ext>
            </a:extLst>
          </p:cNvPr>
          <p:cNvSpPr txBox="1"/>
          <p:nvPr/>
        </p:nvSpPr>
        <p:spPr>
          <a:xfrm>
            <a:off x="6731000" y="2755900"/>
            <a:ext cx="4648200" cy="16004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Choose date, time and party size.
See live table availability before requesting a booking.
The team confirms and assigns a suitable table.
Each booking blocks its table for 90 minutes; overlapping assignments are prevented.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13FBCC-E24D-43C3-C7F1-7D93AABCD424}"/>
              </a:ext>
            </a:extLst>
          </p:cNvPr>
          <p:cNvSpPr txBox="1"/>
          <p:nvPr/>
        </p:nvSpPr>
        <p:spPr>
          <a:xfrm>
            <a:off x="596900" y="59563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626F67"/>
                </a:solidFill>
                <a:latin typeface="Aptos" panose="020B0004020202020204" pitchFamily="34" charset="0"/>
              </a:rPr>
              <a:t>Email delivery: Brevo API (verified sender required), with Gmail and other provider paths available as alternatives.</a:t>
            </a:r>
            <a:endParaRPr lang="en-US" sz="1200">
              <a:solidFill>
                <a:srgbClr val="626F6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778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79FD05-8A85-2CAB-1B39-EFDAD365A6D5}"/>
              </a:ext>
            </a:extLst>
          </p:cNvPr>
          <p:cNvSpPr txBox="1"/>
          <p:nvPr/>
        </p:nvSpPr>
        <p:spPr>
          <a:xfrm>
            <a:off x="5588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275240"/>
                </a:solidFill>
                <a:latin typeface="Aptos" panose="020B0004020202020204" pitchFamily="34" charset="0"/>
              </a:rPr>
              <a:t>PRODUCT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E5266-DEEC-D21E-A0C4-E988CBA7CA95}"/>
              </a:ext>
            </a:extLst>
          </p:cNvPr>
          <p:cNvSpPr txBox="1"/>
          <p:nvPr/>
        </p:nvSpPr>
        <p:spPr>
          <a:xfrm>
            <a:off x="558800" y="736600"/>
            <a:ext cx="110744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900" b="1">
                <a:solidFill>
                  <a:srgbClr val="183A2E"/>
                </a:solidFill>
                <a:latin typeface="Aptos" panose="020B0004020202020204" pitchFamily="34" charset="0"/>
              </a:rPr>
              <a:t>Staff dashboard keeps service work together</a:t>
            </a:r>
            <a:endParaRPr lang="en-US" sz="2900" b="1">
              <a:solidFill>
                <a:srgbClr val="183A2E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7BC130-5A0A-5F17-5340-9DE1C3648FD6}"/>
              </a:ext>
            </a:extLst>
          </p:cNvPr>
          <p:cNvSpPr/>
          <p:nvPr/>
        </p:nvSpPr>
        <p:spPr>
          <a:xfrm>
            <a:off x="558800" y="1574800"/>
            <a:ext cx="11074400" cy="25400"/>
          </a:xfrm>
          <a:prstGeom prst="rect">
            <a:avLst/>
          </a:prstGeom>
          <a:solidFill>
            <a:srgbClr val="E7E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6CECC-B065-F4FF-14BE-88FE49B9E283}"/>
              </a:ext>
            </a:extLst>
          </p:cNvPr>
          <p:cNvSpPr txBox="1"/>
          <p:nvPr/>
        </p:nvSpPr>
        <p:spPr>
          <a:xfrm>
            <a:off x="558800" y="6477000"/>
            <a:ext cx="11074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626F67"/>
                </a:solidFill>
                <a:latin typeface="Aptos" panose="020B0004020202020204" pitchFamily="34" charset="0"/>
              </a:rPr>
              <a:t>ORDERPULSE  /  APP OVERVIEW                                        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315463-FAA3-B4B1-A354-48C6B8429273}"/>
              </a:ext>
            </a:extLst>
          </p:cNvPr>
          <p:cNvSpPr txBox="1"/>
          <p:nvPr/>
        </p:nvSpPr>
        <p:spPr>
          <a:xfrm>
            <a:off x="584200" y="18034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626F67"/>
                </a:solidFill>
                <a:latin typeface="Aptos" panose="020B0004020202020204" pitchFamily="34" charset="0"/>
              </a:rPr>
              <a:t>Role-based sections give staff operational tools and reserve sensitive administration for managers.</a:t>
            </a:r>
            <a:endParaRPr lang="en-US" sz="1500">
              <a:solidFill>
                <a:srgbClr val="626F6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0CAA58-8368-6561-12F9-C4E3183D6F7B}"/>
              </a:ext>
            </a:extLst>
          </p:cNvPr>
          <p:cNvSpPr/>
          <p:nvPr/>
        </p:nvSpPr>
        <p:spPr>
          <a:xfrm>
            <a:off x="558800" y="2387600"/>
            <a:ext cx="3479800" cy="1663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A18A87-DE5C-037B-A6F8-E53E6111CEA1}"/>
              </a:ext>
            </a:extLst>
          </p:cNvPr>
          <p:cNvSpPr/>
          <p:nvPr/>
        </p:nvSpPr>
        <p:spPr>
          <a:xfrm>
            <a:off x="762000" y="2603500"/>
            <a:ext cx="63500" cy="1231900"/>
          </a:xfrm>
          <a:prstGeom prst="rect">
            <a:avLst/>
          </a:prstGeom>
          <a:solidFill>
            <a:srgbClr val="275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860B36-63F3-88F0-686F-5E1CAE12B499}"/>
              </a:ext>
            </a:extLst>
          </p:cNvPr>
          <p:cNvSpPr txBox="1"/>
          <p:nvPr/>
        </p:nvSpPr>
        <p:spPr>
          <a:xfrm>
            <a:off x="965200" y="2641600"/>
            <a:ext cx="2870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Orders + kitchen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8FFF83-897D-2076-C339-6594DACDE566}"/>
              </a:ext>
            </a:extLst>
          </p:cNvPr>
          <p:cNvSpPr txBox="1"/>
          <p:nvPr/>
        </p:nvSpPr>
        <p:spPr>
          <a:xfrm>
            <a:off x="965200" y="3111500"/>
            <a:ext cx="2819400" cy="6001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Review incoming orders and move them through kitchen statuses to completion.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4256FF-6D1D-1E2F-D2BB-9DD68EE26B06}"/>
              </a:ext>
            </a:extLst>
          </p:cNvPr>
          <p:cNvSpPr/>
          <p:nvPr/>
        </p:nvSpPr>
        <p:spPr>
          <a:xfrm>
            <a:off x="4356100" y="2387600"/>
            <a:ext cx="3479800" cy="1663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2F9A65-C6A1-C5CD-A255-8960FC6C8CA7}"/>
              </a:ext>
            </a:extLst>
          </p:cNvPr>
          <p:cNvSpPr/>
          <p:nvPr/>
        </p:nvSpPr>
        <p:spPr>
          <a:xfrm>
            <a:off x="4559300" y="2603500"/>
            <a:ext cx="63500" cy="1231900"/>
          </a:xfrm>
          <a:prstGeom prst="rect">
            <a:avLst/>
          </a:prstGeom>
          <a:solidFill>
            <a:srgbClr val="D5ED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C6A57F-2D11-2271-A201-4963285404D1}"/>
              </a:ext>
            </a:extLst>
          </p:cNvPr>
          <p:cNvSpPr txBox="1"/>
          <p:nvPr/>
        </p:nvSpPr>
        <p:spPr>
          <a:xfrm>
            <a:off x="4762500" y="2641600"/>
            <a:ext cx="2870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Tables + bookings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C9B881-43BB-20B3-FD03-7211F13655F4}"/>
              </a:ext>
            </a:extLst>
          </p:cNvPr>
          <p:cNvSpPr txBox="1"/>
          <p:nvPr/>
        </p:nvSpPr>
        <p:spPr>
          <a:xfrm>
            <a:off x="4762500" y="3111500"/>
            <a:ext cx="28194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Review requests, assign tables and update booking and table status.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F1901E-6B0E-2ACC-8A05-E2DE8AFF85B2}"/>
              </a:ext>
            </a:extLst>
          </p:cNvPr>
          <p:cNvSpPr/>
          <p:nvPr/>
        </p:nvSpPr>
        <p:spPr>
          <a:xfrm>
            <a:off x="8153400" y="2387600"/>
            <a:ext cx="3479800" cy="1663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F662D2-E28C-F31F-1197-5F15853941E2}"/>
              </a:ext>
            </a:extLst>
          </p:cNvPr>
          <p:cNvSpPr/>
          <p:nvPr/>
        </p:nvSpPr>
        <p:spPr>
          <a:xfrm>
            <a:off x="8356600" y="2603500"/>
            <a:ext cx="63500" cy="1231900"/>
          </a:xfrm>
          <a:prstGeom prst="rect">
            <a:avLst/>
          </a:prstGeom>
          <a:solidFill>
            <a:srgbClr val="E7B1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5CF459-DA93-FDA0-9B30-96200B7C9D4F}"/>
              </a:ext>
            </a:extLst>
          </p:cNvPr>
          <p:cNvSpPr txBox="1"/>
          <p:nvPr/>
        </p:nvSpPr>
        <p:spPr>
          <a:xfrm>
            <a:off x="8559800" y="2641600"/>
            <a:ext cx="2870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Menu + stock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41212F-2D71-9C06-6BF3-D51896F7E10F}"/>
              </a:ext>
            </a:extLst>
          </p:cNvPr>
          <p:cNvSpPr txBox="1"/>
          <p:nvPr/>
        </p:nvSpPr>
        <p:spPr>
          <a:xfrm>
            <a:off x="8559800" y="3111500"/>
            <a:ext cx="2819400" cy="6001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Managers edit menu items, categories, pricing and stock; staff can flag items unavailable.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CFE30AD-3362-6856-24BB-EC79ECEE15EB}"/>
              </a:ext>
            </a:extLst>
          </p:cNvPr>
          <p:cNvSpPr/>
          <p:nvPr/>
        </p:nvSpPr>
        <p:spPr>
          <a:xfrm>
            <a:off x="558800" y="4318000"/>
            <a:ext cx="3479800" cy="1663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9BC814-DDD6-593B-7F2C-4F066871384C}"/>
              </a:ext>
            </a:extLst>
          </p:cNvPr>
          <p:cNvSpPr/>
          <p:nvPr/>
        </p:nvSpPr>
        <p:spPr>
          <a:xfrm>
            <a:off x="762000" y="4533900"/>
            <a:ext cx="63500" cy="1231900"/>
          </a:xfrm>
          <a:prstGeom prst="rect">
            <a:avLst/>
          </a:prstGeom>
          <a:solidFill>
            <a:srgbClr val="E7B1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C3E57A-F985-02C3-0E79-C0CB1CAE96FB}"/>
              </a:ext>
            </a:extLst>
          </p:cNvPr>
          <p:cNvSpPr txBox="1"/>
          <p:nvPr/>
        </p:nvSpPr>
        <p:spPr>
          <a:xfrm>
            <a:off x="965200" y="4572000"/>
            <a:ext cx="2870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Team accounts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0A7CA9-4782-F31B-1BB5-E308E419B1CA}"/>
              </a:ext>
            </a:extLst>
          </p:cNvPr>
          <p:cNvSpPr txBox="1"/>
          <p:nvPr/>
        </p:nvSpPr>
        <p:spPr>
          <a:xfrm>
            <a:off x="965200" y="5041900"/>
            <a:ext cx="2819400" cy="6001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Managers create individual staff accounts. Email verification is required before sign-in.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F8E7911-2A72-9882-5034-4C0889C7D9FC}"/>
              </a:ext>
            </a:extLst>
          </p:cNvPr>
          <p:cNvSpPr/>
          <p:nvPr/>
        </p:nvSpPr>
        <p:spPr>
          <a:xfrm>
            <a:off x="4356100" y="4318000"/>
            <a:ext cx="3479800" cy="1663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6B7CCE-8952-EAB7-AF74-B3AC1FFF2FFC}"/>
              </a:ext>
            </a:extLst>
          </p:cNvPr>
          <p:cNvSpPr/>
          <p:nvPr/>
        </p:nvSpPr>
        <p:spPr>
          <a:xfrm>
            <a:off x="4559300" y="4533900"/>
            <a:ext cx="63500" cy="1231900"/>
          </a:xfrm>
          <a:prstGeom prst="rect">
            <a:avLst/>
          </a:prstGeom>
          <a:solidFill>
            <a:srgbClr val="275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609013-2532-8D9A-244B-F91B96B39698}"/>
              </a:ext>
            </a:extLst>
          </p:cNvPr>
          <p:cNvSpPr txBox="1"/>
          <p:nvPr/>
        </p:nvSpPr>
        <p:spPr>
          <a:xfrm>
            <a:off x="4762500" y="4572000"/>
            <a:ext cx="2870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Activity history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31875A-6E0A-EBD5-9816-D15C8D550A10}"/>
              </a:ext>
            </a:extLst>
          </p:cNvPr>
          <p:cNvSpPr txBox="1"/>
          <p:nvPr/>
        </p:nvSpPr>
        <p:spPr>
          <a:xfrm>
            <a:off x="4762500" y="5041900"/>
            <a:ext cx="2819400" cy="6001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An audit log records successful staff actions, the area affected and the timestamp.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ED80A03-CCD3-60A2-2EDF-0EA43569ACBA}"/>
              </a:ext>
            </a:extLst>
          </p:cNvPr>
          <p:cNvSpPr/>
          <p:nvPr/>
        </p:nvSpPr>
        <p:spPr>
          <a:xfrm>
            <a:off x="8153400" y="4318000"/>
            <a:ext cx="3479800" cy="1663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25F9F4-C77A-C4E2-67DE-D6581210D36E}"/>
              </a:ext>
            </a:extLst>
          </p:cNvPr>
          <p:cNvSpPr/>
          <p:nvPr/>
        </p:nvSpPr>
        <p:spPr>
          <a:xfrm>
            <a:off x="8356600" y="4533900"/>
            <a:ext cx="63500" cy="1231900"/>
          </a:xfrm>
          <a:prstGeom prst="rect">
            <a:avLst/>
          </a:prstGeom>
          <a:solidFill>
            <a:srgbClr val="D5ED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623169-16FD-8619-3DF9-DBBF9519372F}"/>
              </a:ext>
            </a:extLst>
          </p:cNvPr>
          <p:cNvSpPr txBox="1"/>
          <p:nvPr/>
        </p:nvSpPr>
        <p:spPr>
          <a:xfrm>
            <a:off x="8559800" y="4572000"/>
            <a:ext cx="2870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Job applications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4A5536-2E72-85FA-3DB3-74F9CB0312CA}"/>
              </a:ext>
            </a:extLst>
          </p:cNvPr>
          <p:cNvSpPr txBox="1"/>
          <p:nvPr/>
        </p:nvSpPr>
        <p:spPr>
          <a:xfrm>
            <a:off x="8559800" y="5041900"/>
            <a:ext cx="28194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Managers can review submitted applications and access applicant CVs.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840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BA300E-EC46-5CE2-7885-A4A39D34243D}"/>
              </a:ext>
            </a:extLst>
          </p:cNvPr>
          <p:cNvSpPr txBox="1"/>
          <p:nvPr/>
        </p:nvSpPr>
        <p:spPr>
          <a:xfrm>
            <a:off x="5588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275240"/>
                </a:solidFill>
                <a:latin typeface="Aptos" panose="020B0004020202020204" pitchFamily="34" charset="0"/>
              </a:rPr>
              <a:t>PRODUCT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6B5C1-F562-6933-AE5E-760A02B88D28}"/>
              </a:ext>
            </a:extLst>
          </p:cNvPr>
          <p:cNvSpPr txBox="1"/>
          <p:nvPr/>
        </p:nvSpPr>
        <p:spPr>
          <a:xfrm>
            <a:off x="558800" y="736600"/>
            <a:ext cx="110744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900" b="1">
                <a:solidFill>
                  <a:srgbClr val="183A2E"/>
                </a:solidFill>
                <a:latin typeface="Aptos" panose="020B0004020202020204" pitchFamily="34" charset="0"/>
              </a:rPr>
              <a:t>Operational details that reduce avoidable friction</a:t>
            </a:r>
            <a:endParaRPr lang="en-US" sz="2900" b="1">
              <a:solidFill>
                <a:srgbClr val="183A2E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E3F79C-E245-8A0F-82CB-42BE90033F63}"/>
              </a:ext>
            </a:extLst>
          </p:cNvPr>
          <p:cNvSpPr/>
          <p:nvPr/>
        </p:nvSpPr>
        <p:spPr>
          <a:xfrm>
            <a:off x="558800" y="1574800"/>
            <a:ext cx="11074400" cy="25400"/>
          </a:xfrm>
          <a:prstGeom prst="rect">
            <a:avLst/>
          </a:prstGeom>
          <a:solidFill>
            <a:srgbClr val="E7E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BE5E4-9D54-486A-92D5-B340BCF477C0}"/>
              </a:ext>
            </a:extLst>
          </p:cNvPr>
          <p:cNvSpPr txBox="1"/>
          <p:nvPr/>
        </p:nvSpPr>
        <p:spPr>
          <a:xfrm>
            <a:off x="558800" y="6477000"/>
            <a:ext cx="11074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626F67"/>
                </a:solidFill>
                <a:latin typeface="Aptos" panose="020B0004020202020204" pitchFamily="34" charset="0"/>
              </a:rPr>
              <a:t>ORDERPULSE  /  APP OVERVIEW                                        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07D3C8-D5B9-EA16-4C66-A0F21270694E}"/>
              </a:ext>
            </a:extLst>
          </p:cNvPr>
          <p:cNvSpPr/>
          <p:nvPr/>
        </p:nvSpPr>
        <p:spPr>
          <a:xfrm>
            <a:off x="558800" y="2108200"/>
            <a:ext cx="5308600" cy="1689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49C27-F299-91A9-8146-519FAEBB92A3}"/>
              </a:ext>
            </a:extLst>
          </p:cNvPr>
          <p:cNvSpPr/>
          <p:nvPr/>
        </p:nvSpPr>
        <p:spPr>
          <a:xfrm>
            <a:off x="762000" y="2324100"/>
            <a:ext cx="63500" cy="1257300"/>
          </a:xfrm>
          <a:prstGeom prst="rect">
            <a:avLst/>
          </a:prstGeom>
          <a:solidFill>
            <a:srgbClr val="D5ED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684EC9-E330-33B6-B5C2-0E5774294CD4}"/>
              </a:ext>
            </a:extLst>
          </p:cNvPr>
          <p:cNvSpPr txBox="1"/>
          <p:nvPr/>
        </p:nvSpPr>
        <p:spPr>
          <a:xfrm>
            <a:off x="965200" y="2362200"/>
            <a:ext cx="4699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Inventory-aware ordering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805FEC-A85C-C2B7-B737-F18EF6D15D4C}"/>
              </a:ext>
            </a:extLst>
          </p:cNvPr>
          <p:cNvSpPr txBox="1"/>
          <p:nvPr/>
        </p:nvSpPr>
        <p:spPr>
          <a:xfrm>
            <a:off x="965200" y="2832100"/>
            <a:ext cx="4648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Tracked quantities are reduced atomically after a successful order. Items with no stock are hidden from ordering.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C55B9E-7DDD-DA0E-7708-5D13FCDE2288}"/>
              </a:ext>
            </a:extLst>
          </p:cNvPr>
          <p:cNvSpPr/>
          <p:nvPr/>
        </p:nvSpPr>
        <p:spPr>
          <a:xfrm>
            <a:off x="6324600" y="2108200"/>
            <a:ext cx="5308600" cy="1689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B20E09-E87C-F236-2BF8-95EE5BECC3C1}"/>
              </a:ext>
            </a:extLst>
          </p:cNvPr>
          <p:cNvSpPr/>
          <p:nvPr/>
        </p:nvSpPr>
        <p:spPr>
          <a:xfrm>
            <a:off x="6527800" y="2324100"/>
            <a:ext cx="63500" cy="1257300"/>
          </a:xfrm>
          <a:prstGeom prst="rect">
            <a:avLst/>
          </a:prstGeom>
          <a:solidFill>
            <a:srgbClr val="E7B1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C4E930-EB55-FB25-7594-99374AFD8F38}"/>
              </a:ext>
            </a:extLst>
          </p:cNvPr>
          <p:cNvSpPr txBox="1"/>
          <p:nvPr/>
        </p:nvSpPr>
        <p:spPr>
          <a:xfrm>
            <a:off x="6731000" y="2362200"/>
            <a:ext cx="4699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Useful notifications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16BAFF-414B-C507-5926-9BAAB72E6BE7}"/>
              </a:ext>
            </a:extLst>
          </p:cNvPr>
          <p:cNvSpPr txBox="1"/>
          <p:nvPr/>
        </p:nvSpPr>
        <p:spPr>
          <a:xfrm>
            <a:off x="6731000" y="2832100"/>
            <a:ext cx="4648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Email can reach customers and configured staff or hiring inboxes for key order, reservation and application events.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FF35EF-9C1C-3C24-16E3-576CF6B5B46A}"/>
              </a:ext>
            </a:extLst>
          </p:cNvPr>
          <p:cNvSpPr/>
          <p:nvPr/>
        </p:nvSpPr>
        <p:spPr>
          <a:xfrm>
            <a:off x="558800" y="4114800"/>
            <a:ext cx="5308600" cy="1689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E94346-4692-3D5F-55C6-8B9E80576E4E}"/>
              </a:ext>
            </a:extLst>
          </p:cNvPr>
          <p:cNvSpPr/>
          <p:nvPr/>
        </p:nvSpPr>
        <p:spPr>
          <a:xfrm>
            <a:off x="762000" y="4330700"/>
            <a:ext cx="63500" cy="1257300"/>
          </a:xfrm>
          <a:prstGeom prst="rect">
            <a:avLst/>
          </a:prstGeom>
          <a:solidFill>
            <a:srgbClr val="275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FECF3E-7FBA-6158-3E2F-A0E5D2969C46}"/>
              </a:ext>
            </a:extLst>
          </p:cNvPr>
          <p:cNvSpPr txBox="1"/>
          <p:nvPr/>
        </p:nvSpPr>
        <p:spPr>
          <a:xfrm>
            <a:off x="965200" y="4368800"/>
            <a:ext cx="4699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Kitchen visibility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9BAE33-161B-E15A-B061-A01818A6CEA0}"/>
              </a:ext>
            </a:extLst>
          </p:cNvPr>
          <p:cNvSpPr txBox="1"/>
          <p:nvPr/>
        </p:nvSpPr>
        <p:spPr>
          <a:xfrm>
            <a:off x="965200" y="4838700"/>
            <a:ext cx="4648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Order statuses keep the team and customer-facing tracker aligned as preparation progresses.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46BF8A-E3EB-16B8-F278-F7ACEAE49F01}"/>
              </a:ext>
            </a:extLst>
          </p:cNvPr>
          <p:cNvSpPr/>
          <p:nvPr/>
        </p:nvSpPr>
        <p:spPr>
          <a:xfrm>
            <a:off x="6324600" y="4114800"/>
            <a:ext cx="5308600" cy="1689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BAAC88-CE2C-FDC3-B555-F8A2576212BD}"/>
              </a:ext>
            </a:extLst>
          </p:cNvPr>
          <p:cNvSpPr/>
          <p:nvPr/>
        </p:nvSpPr>
        <p:spPr>
          <a:xfrm>
            <a:off x="6527800" y="4330700"/>
            <a:ext cx="63500" cy="1257300"/>
          </a:xfrm>
          <a:prstGeom prst="rect">
            <a:avLst/>
          </a:prstGeom>
          <a:solidFill>
            <a:srgbClr val="D5ED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72A65F-8CEB-C89B-1083-E5BC432BFDC7}"/>
              </a:ext>
            </a:extLst>
          </p:cNvPr>
          <p:cNvSpPr txBox="1"/>
          <p:nvPr/>
        </p:nvSpPr>
        <p:spPr>
          <a:xfrm>
            <a:off x="6731000" y="4368800"/>
            <a:ext cx="4699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Receipts + records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97AC39-3ED1-71C1-85B3-E6CDA502E715}"/>
              </a:ext>
            </a:extLst>
          </p:cNvPr>
          <p:cNvSpPr txBox="1"/>
          <p:nvPr/>
        </p:nvSpPr>
        <p:spPr>
          <a:xfrm>
            <a:off x="6731000" y="4838700"/>
            <a:ext cx="4648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Paid orders support PDF or print receipts. Accounts, orders, bookings and activity persist in the database.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307E14-CB3D-C37C-27D8-E0E0A8B9F586}"/>
              </a:ext>
            </a:extLst>
          </p:cNvPr>
          <p:cNvSpPr txBox="1"/>
          <p:nvPr/>
        </p:nvSpPr>
        <p:spPr>
          <a:xfrm>
            <a:off x="596900" y="59817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 b="1">
                <a:solidFill>
                  <a:srgbClr val="626F67"/>
                </a:solidFill>
                <a:latin typeface="Aptos" panose="020B0004020202020204" pitchFamily="34" charset="0"/>
              </a:rPr>
              <a:t>Menu prices are starter estimates; managers should confirm pricing before launch.</a:t>
            </a:r>
            <a:endParaRPr lang="en-US" sz="1200" b="1">
              <a:solidFill>
                <a:srgbClr val="626F6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236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E089CD-DD81-A82D-79BA-FC3BFD0B36BB}"/>
              </a:ext>
            </a:extLst>
          </p:cNvPr>
          <p:cNvSpPr txBox="1"/>
          <p:nvPr/>
        </p:nvSpPr>
        <p:spPr>
          <a:xfrm>
            <a:off x="5588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275240"/>
                </a:solidFill>
                <a:latin typeface="Aptos" panose="020B0004020202020204" pitchFamily="34" charset="0"/>
              </a:rPr>
              <a:t>PRODUCT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96FFC-28C3-0C1E-E746-5B909A16C3F9}"/>
              </a:ext>
            </a:extLst>
          </p:cNvPr>
          <p:cNvSpPr txBox="1"/>
          <p:nvPr/>
        </p:nvSpPr>
        <p:spPr>
          <a:xfrm>
            <a:off x="558800" y="736600"/>
            <a:ext cx="110744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900" b="1">
                <a:solidFill>
                  <a:srgbClr val="183A2E"/>
                </a:solidFill>
                <a:latin typeface="Aptos" panose="020B0004020202020204" pitchFamily="34" charset="0"/>
              </a:rPr>
              <a:t>How the application fits together</a:t>
            </a:r>
            <a:endParaRPr lang="en-US" sz="2900" b="1">
              <a:solidFill>
                <a:srgbClr val="183A2E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626791-0456-951D-3246-AE2DE0B8D356}"/>
              </a:ext>
            </a:extLst>
          </p:cNvPr>
          <p:cNvSpPr/>
          <p:nvPr/>
        </p:nvSpPr>
        <p:spPr>
          <a:xfrm>
            <a:off x="558800" y="1574800"/>
            <a:ext cx="11074400" cy="25400"/>
          </a:xfrm>
          <a:prstGeom prst="rect">
            <a:avLst/>
          </a:prstGeom>
          <a:solidFill>
            <a:srgbClr val="E7E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29B55-D940-62F3-8933-85CA2FCEB7BF}"/>
              </a:ext>
            </a:extLst>
          </p:cNvPr>
          <p:cNvSpPr txBox="1"/>
          <p:nvPr/>
        </p:nvSpPr>
        <p:spPr>
          <a:xfrm>
            <a:off x="558800" y="6477000"/>
            <a:ext cx="11074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626F67"/>
                </a:solidFill>
                <a:latin typeface="Aptos" panose="020B0004020202020204" pitchFamily="34" charset="0"/>
              </a:rPr>
              <a:t>ORDERPULSE  /  APP OVERVIEW                                        07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9884E4-0A93-0A4D-87C9-1734BC6AE12E}"/>
              </a:ext>
            </a:extLst>
          </p:cNvPr>
          <p:cNvSpPr txBox="1"/>
          <p:nvPr/>
        </p:nvSpPr>
        <p:spPr>
          <a:xfrm>
            <a:off x="584200" y="17907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626F67"/>
                </a:solidFill>
                <a:latin typeface="Aptos" panose="020B0004020202020204" pitchFamily="34" charset="0"/>
              </a:rPr>
              <a:t>A single deployed web service serves the built storefront and its API; external providers handle persistence, payments and email.</a:t>
            </a:r>
            <a:endParaRPr lang="en-US" sz="1500">
              <a:solidFill>
                <a:srgbClr val="626F6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87F35E-7F4E-CD5A-695A-F59DBC6391BB}"/>
              </a:ext>
            </a:extLst>
          </p:cNvPr>
          <p:cNvSpPr/>
          <p:nvPr/>
        </p:nvSpPr>
        <p:spPr>
          <a:xfrm>
            <a:off x="558800" y="2654300"/>
            <a:ext cx="2616200" cy="1816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74F05-001E-5CBE-08C4-9EFB484BD1DE}"/>
              </a:ext>
            </a:extLst>
          </p:cNvPr>
          <p:cNvSpPr txBox="1"/>
          <p:nvPr/>
        </p:nvSpPr>
        <p:spPr>
          <a:xfrm>
            <a:off x="762000" y="2895600"/>
            <a:ext cx="22352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275240"/>
                </a:solidFill>
                <a:latin typeface="Aptos" panose="020B0004020202020204" pitchFamily="34" charset="0"/>
              </a:rPr>
              <a:t>GUEST + STAFF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ED1473-A10B-CA27-ECA3-D8DF53A72310}"/>
              </a:ext>
            </a:extLst>
          </p:cNvPr>
          <p:cNvSpPr txBox="1"/>
          <p:nvPr/>
        </p:nvSpPr>
        <p:spPr>
          <a:xfrm>
            <a:off x="762000" y="3365500"/>
            <a:ext cx="22479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1F2B25"/>
                </a:solidFill>
                <a:latin typeface="Aptos" panose="020B0004020202020204" pitchFamily="34" charset="0"/>
              </a:rPr>
              <a:t>React / Vite
Responsive interface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7696B9-8486-5A1B-B7B6-5FDCC855502B}"/>
              </a:ext>
            </a:extLst>
          </p:cNvPr>
          <p:cNvSpPr/>
          <p:nvPr/>
        </p:nvSpPr>
        <p:spPr>
          <a:xfrm>
            <a:off x="3378200" y="2654300"/>
            <a:ext cx="2616200" cy="1816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F942DC-D890-EC4D-0AD2-94524CF4588D}"/>
              </a:ext>
            </a:extLst>
          </p:cNvPr>
          <p:cNvSpPr txBox="1"/>
          <p:nvPr/>
        </p:nvSpPr>
        <p:spPr>
          <a:xfrm>
            <a:off x="3581400" y="2895600"/>
            <a:ext cx="22352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275240"/>
                </a:solidFill>
                <a:latin typeface="Aptos" panose="020B0004020202020204" pitchFamily="34" charset="0"/>
              </a:rPr>
              <a:t>APPLICATION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3F1122-CAEE-89B1-C661-A614BBAAFC97}"/>
              </a:ext>
            </a:extLst>
          </p:cNvPr>
          <p:cNvSpPr txBox="1"/>
          <p:nvPr/>
        </p:nvSpPr>
        <p:spPr>
          <a:xfrm>
            <a:off x="3581400" y="3365500"/>
            <a:ext cx="22479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1F2B25"/>
                </a:solidFill>
                <a:latin typeface="Aptos" panose="020B0004020202020204" pitchFamily="34" charset="0"/>
              </a:rPr>
              <a:t>Node.js 20+
Express REST endpoints</a:t>
            </a:r>
            <a:endParaRPr lang="en-US" sz="1600" b="1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98757A9-CFA1-B363-9E1B-D868424741C1}"/>
              </a:ext>
            </a:extLst>
          </p:cNvPr>
          <p:cNvSpPr/>
          <p:nvPr/>
        </p:nvSpPr>
        <p:spPr>
          <a:xfrm>
            <a:off x="6197600" y="2654300"/>
            <a:ext cx="2616200" cy="1816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7BE146-9E6A-6B88-09E6-1C5438596337}"/>
              </a:ext>
            </a:extLst>
          </p:cNvPr>
          <p:cNvSpPr txBox="1"/>
          <p:nvPr/>
        </p:nvSpPr>
        <p:spPr>
          <a:xfrm>
            <a:off x="6400800" y="2895600"/>
            <a:ext cx="22352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275240"/>
                </a:solidFill>
                <a:latin typeface="Aptos" panose="020B0004020202020204" pitchFamily="34" charset="0"/>
              </a:rPr>
              <a:t>PERSISTENCE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C57D0C-4255-9E91-ED7D-D8078305EA29}"/>
              </a:ext>
            </a:extLst>
          </p:cNvPr>
          <p:cNvSpPr txBox="1"/>
          <p:nvPr/>
        </p:nvSpPr>
        <p:spPr>
          <a:xfrm>
            <a:off x="6400800" y="3365500"/>
            <a:ext cx="22479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1F2B25"/>
                </a:solidFill>
                <a:latin typeface="Aptos" panose="020B0004020202020204" pitchFamily="34" charset="0"/>
              </a:rPr>
              <a:t>MySQL 8-compatible
External database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D4B58CE-3267-A0D7-3C6B-01A06044ACE2}"/>
              </a:ext>
            </a:extLst>
          </p:cNvPr>
          <p:cNvSpPr/>
          <p:nvPr/>
        </p:nvSpPr>
        <p:spPr>
          <a:xfrm>
            <a:off x="9017000" y="2654300"/>
            <a:ext cx="2616200" cy="1816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3E3FA7-29DE-333A-D6B7-51B175C87320}"/>
              </a:ext>
            </a:extLst>
          </p:cNvPr>
          <p:cNvSpPr txBox="1"/>
          <p:nvPr/>
        </p:nvSpPr>
        <p:spPr>
          <a:xfrm>
            <a:off x="9220200" y="2895600"/>
            <a:ext cx="22352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275240"/>
                </a:solidFill>
                <a:latin typeface="Aptos" panose="020B0004020202020204" pitchFamily="34" charset="0"/>
              </a:rPr>
              <a:t>INTEGRATIONS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459999-9824-9925-9974-53BE85EC4686}"/>
              </a:ext>
            </a:extLst>
          </p:cNvPr>
          <p:cNvSpPr txBox="1"/>
          <p:nvPr/>
        </p:nvSpPr>
        <p:spPr>
          <a:xfrm>
            <a:off x="9220200" y="3365500"/>
            <a:ext cx="22479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1F2B25"/>
                </a:solidFill>
                <a:latin typeface="Aptos" panose="020B0004020202020204" pitchFamily="34" charset="0"/>
              </a:rPr>
              <a:t>Paystack + Brevo
HTTPS APIs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FDC6C3-9490-25D3-50B1-D5D901E19870}"/>
              </a:ext>
            </a:extLst>
          </p:cNvPr>
          <p:cNvSpPr txBox="1"/>
          <p:nvPr/>
        </p:nvSpPr>
        <p:spPr>
          <a:xfrm>
            <a:off x="3124200" y="3352800"/>
            <a:ext cx="254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275240"/>
                </a:solidFill>
                <a:latin typeface="Aptos" panose="020B0004020202020204" pitchFamily="34" charset="0"/>
              </a:rPr>
              <a:t>â†’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3ADA1F-08C3-C8F6-542B-57AC32709E75}"/>
              </a:ext>
            </a:extLst>
          </p:cNvPr>
          <p:cNvSpPr txBox="1"/>
          <p:nvPr/>
        </p:nvSpPr>
        <p:spPr>
          <a:xfrm>
            <a:off x="5943600" y="3352800"/>
            <a:ext cx="254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275240"/>
                </a:solidFill>
                <a:latin typeface="Aptos" panose="020B0004020202020204" pitchFamily="34" charset="0"/>
              </a:rPr>
              <a:t>â†’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72FD65-D2F8-574E-2DEF-2A6DB5112833}"/>
              </a:ext>
            </a:extLst>
          </p:cNvPr>
          <p:cNvSpPr txBox="1"/>
          <p:nvPr/>
        </p:nvSpPr>
        <p:spPr>
          <a:xfrm>
            <a:off x="8763000" y="3352800"/>
            <a:ext cx="254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275240"/>
                </a:solidFill>
                <a:latin typeface="Aptos" panose="020B0004020202020204" pitchFamily="34" charset="0"/>
              </a:rPr>
              <a:t>â†’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B71ABCB-51C1-573E-E97E-9D722F721EBF}"/>
              </a:ext>
            </a:extLst>
          </p:cNvPr>
          <p:cNvSpPr/>
          <p:nvPr/>
        </p:nvSpPr>
        <p:spPr>
          <a:xfrm>
            <a:off x="558800" y="4876800"/>
            <a:ext cx="11074400" cy="1054100"/>
          </a:xfrm>
          <a:prstGeom prst="roundRect">
            <a:avLst/>
          </a:prstGeom>
          <a:solidFill>
            <a:srgbClr val="E7E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3F8FF4-5FE4-2CAC-8938-882891C96E19}"/>
              </a:ext>
            </a:extLst>
          </p:cNvPr>
          <p:cNvSpPr txBox="1"/>
          <p:nvPr/>
        </p:nvSpPr>
        <p:spPr>
          <a:xfrm>
            <a:off x="787400" y="5080000"/>
            <a:ext cx="23876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500" b="1">
                <a:solidFill>
                  <a:srgbClr val="183A2E"/>
                </a:solidFill>
                <a:latin typeface="Aptos" panose="020B0004020202020204" pitchFamily="34" charset="0"/>
              </a:rPr>
              <a:t>Render Blueprint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4D2A60-B1D8-AD0F-E2B4-A2687D7C1852}"/>
              </a:ext>
            </a:extLst>
          </p:cNvPr>
          <p:cNvSpPr txBox="1"/>
          <p:nvPr/>
        </p:nvSpPr>
        <p:spPr>
          <a:xfrm>
            <a:off x="3175000" y="5054600"/>
            <a:ext cx="81153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Builds the frontend, starts the API and exposes a health-check endpoint. The Render service uses TLS to reach the external database.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173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950B6-3ABF-85A6-9EEC-5BC98165595A}"/>
              </a:ext>
            </a:extLst>
          </p:cNvPr>
          <p:cNvSpPr txBox="1"/>
          <p:nvPr/>
        </p:nvSpPr>
        <p:spPr>
          <a:xfrm>
            <a:off x="5588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275240"/>
                </a:solidFill>
                <a:latin typeface="Aptos" panose="020B0004020202020204" pitchFamily="34" charset="0"/>
              </a:rPr>
              <a:t>PRODUCT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9DF18-68B6-E44B-928A-1E8C06EC60ED}"/>
              </a:ext>
            </a:extLst>
          </p:cNvPr>
          <p:cNvSpPr txBox="1"/>
          <p:nvPr/>
        </p:nvSpPr>
        <p:spPr>
          <a:xfrm>
            <a:off x="558800" y="736600"/>
            <a:ext cx="110744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900" b="1">
                <a:solidFill>
                  <a:srgbClr val="183A2E"/>
                </a:solidFill>
                <a:latin typeface="Aptos" panose="020B0004020202020204" pitchFamily="34" charset="0"/>
              </a:rPr>
              <a:t>Security and deployment foundations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0A312B-D98D-FD31-2FC4-8E256FFDB591}"/>
              </a:ext>
            </a:extLst>
          </p:cNvPr>
          <p:cNvSpPr/>
          <p:nvPr/>
        </p:nvSpPr>
        <p:spPr>
          <a:xfrm>
            <a:off x="558800" y="1574800"/>
            <a:ext cx="11074400" cy="25400"/>
          </a:xfrm>
          <a:prstGeom prst="rect">
            <a:avLst/>
          </a:prstGeom>
          <a:solidFill>
            <a:srgbClr val="E7E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A8DE3-5C21-1AB3-C186-622BC0C9CA47}"/>
              </a:ext>
            </a:extLst>
          </p:cNvPr>
          <p:cNvSpPr txBox="1"/>
          <p:nvPr/>
        </p:nvSpPr>
        <p:spPr>
          <a:xfrm>
            <a:off x="558800" y="6477000"/>
            <a:ext cx="11074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626F67"/>
                </a:solidFill>
                <a:latin typeface="Aptos" panose="020B0004020202020204" pitchFamily="34" charset="0"/>
              </a:rPr>
              <a:t>ORDERPULSE  /  APP OVERVIEW                                        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D24BC9-9FDE-D912-7FCD-509902891FE5}"/>
              </a:ext>
            </a:extLst>
          </p:cNvPr>
          <p:cNvSpPr/>
          <p:nvPr/>
        </p:nvSpPr>
        <p:spPr>
          <a:xfrm>
            <a:off x="558800" y="1993900"/>
            <a:ext cx="5308600" cy="1689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1B924B-21EE-A25F-8C1C-F90BF7F1BB0F}"/>
              </a:ext>
            </a:extLst>
          </p:cNvPr>
          <p:cNvSpPr/>
          <p:nvPr/>
        </p:nvSpPr>
        <p:spPr>
          <a:xfrm>
            <a:off x="762000" y="2209800"/>
            <a:ext cx="63500" cy="1257300"/>
          </a:xfrm>
          <a:prstGeom prst="rect">
            <a:avLst/>
          </a:prstGeom>
          <a:solidFill>
            <a:srgbClr val="D5ED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9817C-1365-7693-3237-8298F2BEBB9B}"/>
              </a:ext>
            </a:extLst>
          </p:cNvPr>
          <p:cNvSpPr txBox="1"/>
          <p:nvPr/>
        </p:nvSpPr>
        <p:spPr>
          <a:xfrm>
            <a:off x="965200" y="2247900"/>
            <a:ext cx="4699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Account protections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6F1BBF-7439-7D0A-BE4A-7216C838B4C1}"/>
              </a:ext>
            </a:extLst>
          </p:cNvPr>
          <p:cNvSpPr txBox="1"/>
          <p:nvPr/>
        </p:nvSpPr>
        <p:spPr>
          <a:xfrm>
            <a:off x="965200" y="2717800"/>
            <a:ext cx="4648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Password hashes and email-action tokens are stored as hashes; session cookies are HTTP-only; auth routes are rate-limited.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462B2E-5167-66A7-AFDB-0A2EE9948E94}"/>
              </a:ext>
            </a:extLst>
          </p:cNvPr>
          <p:cNvSpPr/>
          <p:nvPr/>
        </p:nvSpPr>
        <p:spPr>
          <a:xfrm>
            <a:off x="6324600" y="1993900"/>
            <a:ext cx="5308600" cy="1689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7FBC13-1E67-4EE4-DA1F-07246E479965}"/>
              </a:ext>
            </a:extLst>
          </p:cNvPr>
          <p:cNvSpPr/>
          <p:nvPr/>
        </p:nvSpPr>
        <p:spPr>
          <a:xfrm>
            <a:off x="6527800" y="2209800"/>
            <a:ext cx="63500" cy="1257300"/>
          </a:xfrm>
          <a:prstGeom prst="rect">
            <a:avLst/>
          </a:prstGeom>
          <a:solidFill>
            <a:srgbClr val="E7B1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DF9016-3298-09AA-F3AF-EE924FB646F3}"/>
              </a:ext>
            </a:extLst>
          </p:cNvPr>
          <p:cNvSpPr txBox="1"/>
          <p:nvPr/>
        </p:nvSpPr>
        <p:spPr>
          <a:xfrm>
            <a:off x="6731000" y="2247900"/>
            <a:ext cx="4699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Access boundaries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8683C0-D68C-DFAF-C6BB-6F6D21817AD2}"/>
              </a:ext>
            </a:extLst>
          </p:cNvPr>
          <p:cNvSpPr txBox="1"/>
          <p:nvPr/>
        </p:nvSpPr>
        <p:spPr>
          <a:xfrm>
            <a:off x="6731000" y="2717800"/>
            <a:ext cx="4648200" cy="6001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Staff and manager roles protect API operations; managers alone control team accounts, menu/stock administration and sensitive views.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7CBFB06-D878-A6D8-1A6F-B0FAC42F6DE4}"/>
              </a:ext>
            </a:extLst>
          </p:cNvPr>
          <p:cNvSpPr/>
          <p:nvPr/>
        </p:nvSpPr>
        <p:spPr>
          <a:xfrm>
            <a:off x="558800" y="4000500"/>
            <a:ext cx="5308600" cy="1689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35DD98-2666-34C7-BAA4-4E9AD4393446}"/>
              </a:ext>
            </a:extLst>
          </p:cNvPr>
          <p:cNvSpPr/>
          <p:nvPr/>
        </p:nvSpPr>
        <p:spPr>
          <a:xfrm>
            <a:off x="762000" y="4216400"/>
            <a:ext cx="63500" cy="1257300"/>
          </a:xfrm>
          <a:prstGeom prst="rect">
            <a:avLst/>
          </a:prstGeom>
          <a:solidFill>
            <a:srgbClr val="275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90B823-F149-97B3-4DB0-83B59049E285}"/>
              </a:ext>
            </a:extLst>
          </p:cNvPr>
          <p:cNvSpPr txBox="1"/>
          <p:nvPr/>
        </p:nvSpPr>
        <p:spPr>
          <a:xfrm>
            <a:off x="965200" y="4254500"/>
            <a:ext cx="4699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Production configuration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759A85-B5FF-B36F-7C52-BFA3B8703A07}"/>
              </a:ext>
            </a:extLst>
          </p:cNvPr>
          <p:cNvSpPr txBox="1"/>
          <p:nvPr/>
        </p:nvSpPr>
        <p:spPr>
          <a:xfrm>
            <a:off x="965200" y="4724400"/>
            <a:ext cx="4648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Render private environment values include MySQL URL/TLS, Paystack, Brevo sender/key and the public app URL.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F08F88-0038-68CA-DA41-49DAC326E7D7}"/>
              </a:ext>
            </a:extLst>
          </p:cNvPr>
          <p:cNvSpPr/>
          <p:nvPr/>
        </p:nvSpPr>
        <p:spPr>
          <a:xfrm>
            <a:off x="6324600" y="4000500"/>
            <a:ext cx="5308600" cy="1689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086199-DF27-AF08-5C53-BBE656D8AD46}"/>
              </a:ext>
            </a:extLst>
          </p:cNvPr>
          <p:cNvSpPr/>
          <p:nvPr/>
        </p:nvSpPr>
        <p:spPr>
          <a:xfrm>
            <a:off x="6527800" y="4216400"/>
            <a:ext cx="63500" cy="1257300"/>
          </a:xfrm>
          <a:prstGeom prst="rect">
            <a:avLst/>
          </a:prstGeom>
          <a:solidFill>
            <a:srgbClr val="D5ED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887E34-4F36-C24C-479E-BB3911FC6590}"/>
              </a:ext>
            </a:extLst>
          </p:cNvPr>
          <p:cNvSpPr txBox="1"/>
          <p:nvPr/>
        </p:nvSpPr>
        <p:spPr>
          <a:xfrm>
            <a:off x="6731000" y="4254500"/>
            <a:ext cx="4699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Operational ownership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11296-4E0B-C305-4DE3-EB91B12F9ACA}"/>
              </a:ext>
            </a:extLst>
          </p:cNvPr>
          <p:cNvSpPr txBox="1"/>
          <p:nvPr/>
        </p:nvSpPr>
        <p:spPr>
          <a:xfrm>
            <a:off x="6731000" y="4724400"/>
            <a:ext cx="4648200" cy="6001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The database is external to Render: configure backups, test a restore and validate email, payment and login flows before launch.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A93C2A-34E0-910C-EB50-8485269294A8}"/>
              </a:ext>
            </a:extLst>
          </p:cNvPr>
          <p:cNvSpPr txBox="1"/>
          <p:nvPr/>
        </p:nvSpPr>
        <p:spPr>
          <a:xfrm>
            <a:off x="596900" y="59563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 b="1">
                <a:solidFill>
                  <a:srgbClr val="183A2E"/>
                </a:solidFill>
                <a:latin typeface="Aptos" panose="020B0004020202020204" pitchFamily="34" charset="0"/>
              </a:rPr>
              <a:t>Never place API keys, database credentials or account secrets in source control or the frontend.</a:t>
            </a:r>
            <a:endParaRPr lang="en-US" sz="1200" b="1">
              <a:solidFill>
                <a:srgbClr val="183A2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36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7D17D0-15B2-BA6B-B0DE-567E626A266C}"/>
              </a:ext>
            </a:extLst>
          </p:cNvPr>
          <p:cNvSpPr txBox="1"/>
          <p:nvPr/>
        </p:nvSpPr>
        <p:spPr>
          <a:xfrm>
            <a:off x="5588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275240"/>
                </a:solidFill>
                <a:latin typeface="Aptos" panose="020B0004020202020204" pitchFamily="34" charset="0"/>
              </a:rPr>
              <a:t>PRODUCT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C5A2C-F04B-1B6E-22F0-E42D0A3AB4E9}"/>
              </a:ext>
            </a:extLst>
          </p:cNvPr>
          <p:cNvSpPr txBox="1"/>
          <p:nvPr/>
        </p:nvSpPr>
        <p:spPr>
          <a:xfrm>
            <a:off x="558800" y="736600"/>
            <a:ext cx="110744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900" b="1">
                <a:solidFill>
                  <a:srgbClr val="183A2E"/>
                </a:solidFill>
                <a:latin typeface="Aptos" panose="020B0004020202020204" pitchFamily="34" charset="0"/>
              </a:rPr>
              <a:t>Why this matters in today's digital restaurant economy</a:t>
            </a:r>
            <a:endParaRPr lang="en-US" sz="2900" b="1">
              <a:solidFill>
                <a:srgbClr val="183A2E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0AE97A-CC37-3E1A-CCD4-AF44382BE50F}"/>
              </a:ext>
            </a:extLst>
          </p:cNvPr>
          <p:cNvSpPr/>
          <p:nvPr/>
        </p:nvSpPr>
        <p:spPr>
          <a:xfrm>
            <a:off x="558800" y="1574800"/>
            <a:ext cx="11074400" cy="25400"/>
          </a:xfrm>
          <a:prstGeom prst="rect">
            <a:avLst/>
          </a:prstGeom>
          <a:solidFill>
            <a:srgbClr val="E7E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4A661-E726-9C25-52A2-6277BE99C30F}"/>
              </a:ext>
            </a:extLst>
          </p:cNvPr>
          <p:cNvSpPr txBox="1"/>
          <p:nvPr/>
        </p:nvSpPr>
        <p:spPr>
          <a:xfrm>
            <a:off x="558800" y="6477000"/>
            <a:ext cx="11074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626F67"/>
                </a:solidFill>
                <a:latin typeface="Aptos" panose="020B0004020202020204" pitchFamily="34" charset="0"/>
              </a:rPr>
              <a:t>ORDERPULSE  /  APP OVERVIEW                                        09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F072CD-FD7E-7012-9780-EFE582CB0EDF}"/>
              </a:ext>
            </a:extLst>
          </p:cNvPr>
          <p:cNvSpPr txBox="1"/>
          <p:nvPr/>
        </p:nvSpPr>
        <p:spPr>
          <a:xfrm>
            <a:off x="584200" y="18034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626F67"/>
                </a:solidFill>
                <a:latin typeface="Aptos" panose="020B0004020202020204" pitchFamily="34" charset="0"/>
              </a:rPr>
              <a:t>A practical digital channel can help a local restaurant serve customers who expect convenient, transparent online services.</a:t>
            </a:r>
            <a:endParaRPr lang="en-US" sz="1500">
              <a:solidFill>
                <a:srgbClr val="626F6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C9644B-FFD8-DDAC-F4E5-8420AFBB2A1D}"/>
              </a:ext>
            </a:extLst>
          </p:cNvPr>
          <p:cNvSpPr/>
          <p:nvPr/>
        </p:nvSpPr>
        <p:spPr>
          <a:xfrm>
            <a:off x="558800" y="2451100"/>
            <a:ext cx="3479800" cy="279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CB4FE1-5114-BB53-A409-1DA850C7844D}"/>
              </a:ext>
            </a:extLst>
          </p:cNvPr>
          <p:cNvSpPr/>
          <p:nvPr/>
        </p:nvSpPr>
        <p:spPr>
          <a:xfrm>
            <a:off x="762000" y="2667000"/>
            <a:ext cx="63500" cy="2362200"/>
          </a:xfrm>
          <a:prstGeom prst="rect">
            <a:avLst/>
          </a:prstGeom>
          <a:solidFill>
            <a:srgbClr val="D5ED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10DDBE-9AC9-1477-7136-F0FCA66806EA}"/>
              </a:ext>
            </a:extLst>
          </p:cNvPr>
          <p:cNvSpPr txBox="1"/>
          <p:nvPr/>
        </p:nvSpPr>
        <p:spPr>
          <a:xfrm>
            <a:off x="965200" y="2705100"/>
            <a:ext cx="2870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Customer 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76772-C8E3-D31E-955A-FF921723C3E2}"/>
              </a:ext>
            </a:extLst>
          </p:cNvPr>
          <p:cNvSpPr txBox="1"/>
          <p:nvPr/>
        </p:nvSpPr>
        <p:spPr>
          <a:xfrm>
            <a:off x="965200" y="3175000"/>
            <a:ext cx="2819400" cy="16004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Order and reservation options are available online.
Prices, order progress and receipts are easier to access.
Email verification and reset flows support account self-service.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2B194A-D0D0-EF8E-C16A-6B77EBDB3E42}"/>
              </a:ext>
            </a:extLst>
          </p:cNvPr>
          <p:cNvSpPr/>
          <p:nvPr/>
        </p:nvSpPr>
        <p:spPr>
          <a:xfrm>
            <a:off x="4356100" y="2451100"/>
            <a:ext cx="3479800" cy="279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31798C-2127-99DD-3B4E-ABECDEC52D9C}"/>
              </a:ext>
            </a:extLst>
          </p:cNvPr>
          <p:cNvSpPr/>
          <p:nvPr/>
        </p:nvSpPr>
        <p:spPr>
          <a:xfrm>
            <a:off x="4559300" y="2667000"/>
            <a:ext cx="63500" cy="2362200"/>
          </a:xfrm>
          <a:prstGeom prst="rect">
            <a:avLst/>
          </a:prstGeom>
          <a:solidFill>
            <a:srgbClr val="E7B1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10DE12-9197-0BB4-423F-6A895DB9C945}"/>
              </a:ext>
            </a:extLst>
          </p:cNvPr>
          <p:cNvSpPr txBox="1"/>
          <p:nvPr/>
        </p:nvSpPr>
        <p:spPr>
          <a:xfrm>
            <a:off x="4762500" y="2705100"/>
            <a:ext cx="2870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Restaurant 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EF4AB7-710B-C4C7-F228-EC27BF5644BF}"/>
              </a:ext>
            </a:extLst>
          </p:cNvPr>
          <p:cNvSpPr txBox="1"/>
          <p:nvPr/>
        </p:nvSpPr>
        <p:spPr>
          <a:xfrm>
            <a:off x="4762500" y="3175000"/>
            <a:ext cx="28194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A shared workspace brings orders, kitchen updates, bookings and menu controls together.
Stock visibility and audit history can support better day-to-day decisions.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46D421-7434-4275-AB83-0E5105224216}"/>
              </a:ext>
            </a:extLst>
          </p:cNvPr>
          <p:cNvSpPr/>
          <p:nvPr/>
        </p:nvSpPr>
        <p:spPr>
          <a:xfrm>
            <a:off x="8153400" y="2451100"/>
            <a:ext cx="3479800" cy="279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948B3A-5E67-E5A2-6F83-B2E69BAFCA19}"/>
              </a:ext>
            </a:extLst>
          </p:cNvPr>
          <p:cNvSpPr/>
          <p:nvPr/>
        </p:nvSpPr>
        <p:spPr>
          <a:xfrm>
            <a:off x="8356600" y="2667000"/>
            <a:ext cx="63500" cy="2362200"/>
          </a:xfrm>
          <a:prstGeom prst="rect">
            <a:avLst/>
          </a:prstGeom>
          <a:solidFill>
            <a:srgbClr val="275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D25AE4-7739-5B79-F612-A47F6CF43A22}"/>
              </a:ext>
            </a:extLst>
          </p:cNvPr>
          <p:cNvSpPr txBox="1"/>
          <p:nvPr/>
        </p:nvSpPr>
        <p:spPr>
          <a:xfrm>
            <a:off x="8559800" y="2705100"/>
            <a:ext cx="2870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Community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25046-5CC2-6265-753B-9F2B3EAEFF21}"/>
              </a:ext>
            </a:extLst>
          </p:cNvPr>
          <p:cNvSpPr txBox="1"/>
          <p:nvPr/>
        </p:nvSpPr>
        <p:spPr>
          <a:xfrm>
            <a:off x="8559800" y="3175000"/>
            <a:ext cx="2819400" cy="14003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A Kumasi restaurant gains a direct digital storefront and online payment option.
A digital job application channel helps connect prospective staff and hiring managers.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4A0052C-E6AA-1563-8E72-E299DD1FBB53}"/>
              </a:ext>
            </a:extLst>
          </p:cNvPr>
          <p:cNvSpPr/>
          <p:nvPr/>
        </p:nvSpPr>
        <p:spPr>
          <a:xfrm>
            <a:off x="558800" y="5562600"/>
            <a:ext cx="11074400" cy="609600"/>
          </a:xfrm>
          <a:prstGeom prst="roundRect">
            <a:avLst/>
          </a:prstGeom>
          <a:solidFill>
            <a:srgbClr val="E7E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202BD2-8E5B-256B-8205-53DFBC480A68}"/>
              </a:ext>
            </a:extLst>
          </p:cNvPr>
          <p:cNvSpPr txBox="1"/>
          <p:nvPr/>
        </p:nvSpPr>
        <p:spPr>
          <a:xfrm>
            <a:off x="736600" y="5702300"/>
            <a:ext cx="106934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 b="1">
                <a:solidFill>
                  <a:srgbClr val="183A2E"/>
                </a:solidFill>
                <a:latin typeface="Aptos" panose="020B0004020202020204" pitchFamily="34" charset="0"/>
              </a:rPr>
              <a:t>These are intended benefits, not measured results. Impact depends on reliable connectivity, accurate menus, secure configuration and staff adoption.</a:t>
            </a:r>
            <a:endParaRPr lang="en-US" sz="1100" b="1">
              <a:solidFill>
                <a:srgbClr val="183A2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279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789575-84CD-9A4D-55B0-A0FB409176FD}"/>
              </a:ext>
            </a:extLst>
          </p:cNvPr>
          <p:cNvSpPr txBox="1"/>
          <p:nvPr/>
        </p:nvSpPr>
        <p:spPr>
          <a:xfrm>
            <a:off x="5588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275240"/>
                </a:solidFill>
                <a:latin typeface="Aptos" panose="020B0004020202020204" pitchFamily="34" charset="0"/>
              </a:rPr>
              <a:t>PRODUCT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9AE5-30DD-A1EF-1393-8D8EC05BEBCA}"/>
              </a:ext>
            </a:extLst>
          </p:cNvPr>
          <p:cNvSpPr txBox="1"/>
          <p:nvPr/>
        </p:nvSpPr>
        <p:spPr>
          <a:xfrm>
            <a:off x="558800" y="736600"/>
            <a:ext cx="110744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900" b="1">
                <a:solidFill>
                  <a:srgbClr val="183A2E"/>
                </a:solidFill>
                <a:latin typeface="Aptos" panose="020B0004020202020204" pitchFamily="34" charset="0"/>
              </a:rPr>
              <a:t>A focused demo - and what to verify before launch</a:t>
            </a:r>
            <a:endParaRPr lang="en-US" sz="2900" b="1">
              <a:solidFill>
                <a:srgbClr val="183A2E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887ECA-3542-4A5E-A3B1-A5A87C377890}"/>
              </a:ext>
            </a:extLst>
          </p:cNvPr>
          <p:cNvSpPr/>
          <p:nvPr/>
        </p:nvSpPr>
        <p:spPr>
          <a:xfrm>
            <a:off x="558800" y="1574800"/>
            <a:ext cx="11074400" cy="25400"/>
          </a:xfrm>
          <a:prstGeom prst="rect">
            <a:avLst/>
          </a:prstGeom>
          <a:solidFill>
            <a:srgbClr val="E7E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012D0-392F-4B13-DED0-ED7834677647}"/>
              </a:ext>
            </a:extLst>
          </p:cNvPr>
          <p:cNvSpPr txBox="1"/>
          <p:nvPr/>
        </p:nvSpPr>
        <p:spPr>
          <a:xfrm>
            <a:off x="558800" y="6477000"/>
            <a:ext cx="11074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626F67"/>
                </a:solidFill>
                <a:latin typeface="Aptos" panose="020B0004020202020204" pitchFamily="34" charset="0"/>
              </a:rPr>
              <a:t>ORDERPULSE  /  APP OVERVIEW                                        10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02091E-9919-FBCD-258A-26EF82370E0E}"/>
              </a:ext>
            </a:extLst>
          </p:cNvPr>
          <p:cNvSpPr/>
          <p:nvPr/>
        </p:nvSpPr>
        <p:spPr>
          <a:xfrm>
            <a:off x="558800" y="2019300"/>
            <a:ext cx="66294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E6CC8-F1DF-DA24-E062-454A78AA4ADD}"/>
              </a:ext>
            </a:extLst>
          </p:cNvPr>
          <p:cNvSpPr/>
          <p:nvPr/>
        </p:nvSpPr>
        <p:spPr>
          <a:xfrm>
            <a:off x="762000" y="2235200"/>
            <a:ext cx="63500" cy="3378200"/>
          </a:xfrm>
          <a:prstGeom prst="rect">
            <a:avLst/>
          </a:prstGeom>
          <a:solidFill>
            <a:srgbClr val="D5ED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2867A0-F567-24CB-34A3-1D181EAB57DD}"/>
              </a:ext>
            </a:extLst>
          </p:cNvPr>
          <p:cNvSpPr txBox="1"/>
          <p:nvPr/>
        </p:nvSpPr>
        <p:spPr>
          <a:xfrm>
            <a:off x="965200" y="2273300"/>
            <a:ext cx="60198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Demo sequence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C113B-7F4A-AA13-6077-8F5C1E1F4B49}"/>
              </a:ext>
            </a:extLst>
          </p:cNvPr>
          <p:cNvSpPr txBox="1"/>
          <p:nvPr/>
        </p:nvSpPr>
        <p:spPr>
          <a:xfrm>
            <a:off x="965200" y="2743200"/>
            <a:ext cx="5969000" cy="18004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1. Browse a menu category and add a dish to the bag.
2. Place a pickup/dine-in order and complete a Paystack test payment.
3. Track the order and show its receipt.
4. Sign in to staff tools; progress the order and inspect the kitchen view.
5. Request a reservation; show its availability and staff workflow.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93207A-E0FA-C98C-42DB-C91BD470F0D0}"/>
              </a:ext>
            </a:extLst>
          </p:cNvPr>
          <p:cNvSpPr/>
          <p:nvPr/>
        </p:nvSpPr>
        <p:spPr>
          <a:xfrm>
            <a:off x="7493000" y="2019300"/>
            <a:ext cx="41402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3A68C0-94B0-25E3-CBE7-75D0614E6B49}"/>
              </a:ext>
            </a:extLst>
          </p:cNvPr>
          <p:cNvSpPr/>
          <p:nvPr/>
        </p:nvSpPr>
        <p:spPr>
          <a:xfrm>
            <a:off x="7696200" y="2235200"/>
            <a:ext cx="63500" cy="3378200"/>
          </a:xfrm>
          <a:prstGeom prst="rect">
            <a:avLst/>
          </a:prstGeom>
          <a:solidFill>
            <a:srgbClr val="E7B1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5A02AE-94FF-6509-16F1-23B7214B241A}"/>
              </a:ext>
            </a:extLst>
          </p:cNvPr>
          <p:cNvSpPr txBox="1"/>
          <p:nvPr/>
        </p:nvSpPr>
        <p:spPr>
          <a:xfrm>
            <a:off x="7899400" y="2273300"/>
            <a:ext cx="35306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83A2E"/>
                </a:solidFill>
                <a:latin typeface="Aptos" panose="020B0004020202020204" pitchFamily="34" charset="0"/>
              </a:rPr>
              <a:t>Go-live checks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DD7AE5-5736-8597-C96E-9B5EDDF27F25}"/>
              </a:ext>
            </a:extLst>
          </p:cNvPr>
          <p:cNvSpPr txBox="1"/>
          <p:nvPr/>
        </p:nvSpPr>
        <p:spPr>
          <a:xfrm>
            <a:off x="7899400" y="2743200"/>
            <a:ext cx="3479800" cy="26007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F2B25"/>
                </a:solidFill>
                <a:latin typeface="Aptos" panose="020B0004020202020204" pitchFamily="34" charset="0"/>
              </a:rPr>
              <a:t>Verify the Brevo sender and Render secrets.
Use correct MySQL TLS settings and confirm backups.
Test verification and password reset from the public URL.
Run a Paystack test transaction and webhook check.
Review starter menu prices before accepting live orders.</a:t>
            </a:r>
            <a:endParaRPr lang="en-US" sz="1300">
              <a:solidFill>
                <a:srgbClr val="1F2B25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40EF9E-BCCE-651D-63DD-861A8E8190C1}"/>
              </a:ext>
            </a:extLst>
          </p:cNvPr>
          <p:cNvSpPr/>
          <p:nvPr/>
        </p:nvSpPr>
        <p:spPr>
          <a:xfrm>
            <a:off x="558800" y="6057900"/>
            <a:ext cx="11074400" cy="317500"/>
          </a:xfrm>
          <a:prstGeom prst="roundRect">
            <a:avLst/>
          </a:prstGeom>
          <a:solidFill>
            <a:srgbClr val="183A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7A8E7A-FE6D-94DB-FFF6-407E1D32DC41}"/>
              </a:ext>
            </a:extLst>
          </p:cNvPr>
          <p:cNvSpPr txBox="1"/>
          <p:nvPr/>
        </p:nvSpPr>
        <p:spPr>
          <a:xfrm>
            <a:off x="723900" y="6096000"/>
            <a:ext cx="10718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OrderPulse brings guest ordering and restaurant operations into one connected workflow.</a:t>
            </a:r>
            <a:endParaRPr lang="en-US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98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1183</Words>
  <Application>Microsoft Office PowerPoint</Application>
  <PresentationFormat>On-screen Show (16:10)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Newton oduro</dc:creator>
  <cp:lastModifiedBy>Newton oduro</cp:lastModifiedBy>
  <cp:revision>2</cp:revision>
  <dcterms:created xsi:type="dcterms:W3CDTF">2026-10-12T11:40:11Z</dcterms:created>
  <dcterms:modified xsi:type="dcterms:W3CDTF">2026-10-12T12:20:59Z</dcterms:modified>
</cp:coreProperties>
</file>